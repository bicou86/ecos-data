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23"/>
  </p:notesMasterIdLst>
  <p:handoutMasterIdLst>
    <p:handoutMasterId r:id="rId24"/>
  </p:handoutMasterIdLst>
  <p:sldIdLst>
    <p:sldId id="256" r:id="rId2"/>
    <p:sldId id="308" r:id="rId3"/>
    <p:sldId id="262" r:id="rId4"/>
    <p:sldId id="265" r:id="rId5"/>
    <p:sldId id="271" r:id="rId6"/>
    <p:sldId id="304" r:id="rId7"/>
    <p:sldId id="305" r:id="rId8"/>
    <p:sldId id="306" r:id="rId9"/>
    <p:sldId id="307" r:id="rId10"/>
    <p:sldId id="261" r:id="rId11"/>
    <p:sldId id="270" r:id="rId12"/>
    <p:sldId id="263" r:id="rId13"/>
    <p:sldId id="274" r:id="rId14"/>
    <p:sldId id="275" r:id="rId15"/>
    <p:sldId id="267" r:id="rId16"/>
    <p:sldId id="268" r:id="rId17"/>
    <p:sldId id="266" r:id="rId18"/>
    <p:sldId id="273" r:id="rId19"/>
    <p:sldId id="302" r:id="rId20"/>
    <p:sldId id="303" r:id="rId21"/>
    <p:sldId id="301" r:id="rId22"/>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074" autoAdjust="0"/>
  </p:normalViewPr>
  <p:slideViewPr>
    <p:cSldViewPr>
      <p:cViewPr varScale="1">
        <p:scale>
          <a:sx n="72" d="100"/>
          <a:sy n="72" d="100"/>
        </p:scale>
        <p:origin x="1762" y="6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63" d="100"/>
          <a:sy n="63" d="100"/>
        </p:scale>
        <p:origin x="-3234"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CH"/>
          </a:p>
        </p:txBody>
      </p:sp>
      <p:sp>
        <p:nvSpPr>
          <p:cNvPr id="3" name="Espace réservé de la date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28469C1-FDD1-4E97-B23A-75D14DD863F2}" type="datetimeFigureOut">
              <a:rPr lang="fr-CH" smtClean="0"/>
              <a:pPr/>
              <a:t>22.05.2019</a:t>
            </a:fld>
            <a:endParaRPr lang="fr-CH"/>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fr-CH"/>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DAAC8A3-C384-442D-AE3D-B5F26AFF0FDF}" type="slidenum">
              <a:rPr lang="fr-CH" smtClean="0"/>
              <a:pPr/>
              <a:t>‹N°›</a:t>
            </a:fld>
            <a:endParaRPr lang="fr-CH"/>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BEB475-0B1D-FF42-8173-AA9ACEC09844}" type="datetimeFigureOut">
              <a:rPr lang="fr-FR" smtClean="0"/>
              <a:pPr/>
              <a:t>22/05/2019</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CH" smtClean="0"/>
              <a:t>Cliquez pour modifier les styles du texte du masque</a:t>
            </a:r>
          </a:p>
          <a:p>
            <a:pPr lvl="1"/>
            <a:r>
              <a:rPr lang="fr-CH" smtClean="0"/>
              <a:t>Deuxième niveau</a:t>
            </a:r>
          </a:p>
          <a:p>
            <a:pPr lvl="2"/>
            <a:r>
              <a:rPr lang="fr-CH" smtClean="0"/>
              <a:t>Troisième niveau</a:t>
            </a:r>
          </a:p>
          <a:p>
            <a:pPr lvl="3"/>
            <a:r>
              <a:rPr lang="fr-CH" smtClean="0"/>
              <a:t>Quatrième niveau</a:t>
            </a:r>
          </a:p>
          <a:p>
            <a:pPr lvl="4"/>
            <a:r>
              <a:rPr lang="fr-CH"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E8AAD36-79AB-4A4C-BD0F-21E587ADEE38}" type="slidenum">
              <a:rPr lang="fr-FR" smtClean="0"/>
              <a:pPr/>
              <a:t>‹N°›</a:t>
            </a:fld>
            <a:endParaRPr lang="fr-FR"/>
          </a:p>
        </p:txBody>
      </p:sp>
    </p:spTree>
    <p:extLst>
      <p:ext uri="{BB962C8B-B14F-4D97-AF65-F5344CB8AC3E}">
        <p14:creationId xmlns:p14="http://schemas.microsoft.com/office/powerpoint/2010/main" val="2831917550"/>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108547"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109571"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110595"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endParaRPr 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111619"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a:p>
        </p:txBody>
      </p:sp>
      <p:sp>
        <p:nvSpPr>
          <p:cNvPr id="4" name="Espace réservé du numéro de diapositive 3"/>
          <p:cNvSpPr>
            <a:spLocks noGrp="1"/>
          </p:cNvSpPr>
          <p:nvPr>
            <p:ph type="sldNum" sz="quarter" idx="10"/>
          </p:nvPr>
        </p:nvSpPr>
        <p:spPr/>
        <p:txBody>
          <a:bodyPr/>
          <a:lstStyle/>
          <a:p>
            <a:fld id="{9E8AAD36-79AB-4A4C-BD0F-21E587ADEE38}" type="slidenum">
              <a:rPr lang="fr-FR" smtClean="0"/>
              <a:pPr/>
              <a:t>10</a:t>
            </a:fld>
            <a:endParaRPr lang="fr-FR"/>
          </a:p>
        </p:txBody>
      </p:sp>
    </p:spTree>
    <p:extLst>
      <p:ext uri="{BB962C8B-B14F-4D97-AF65-F5344CB8AC3E}">
        <p14:creationId xmlns:p14="http://schemas.microsoft.com/office/powerpoint/2010/main" val="26316330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Cliquez pour modifier le style du titre</a:t>
            </a:r>
            <a:endParaRPr lang="fr-CH"/>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CH"/>
          </a:p>
        </p:txBody>
      </p:sp>
      <p:sp>
        <p:nvSpPr>
          <p:cNvPr id="4" name="Espace réservé de la date 3"/>
          <p:cNvSpPr>
            <a:spLocks noGrp="1"/>
          </p:cNvSpPr>
          <p:nvPr>
            <p:ph type="dt" sz="half" idx="10"/>
          </p:nvPr>
        </p:nvSpPr>
        <p:spPr/>
        <p:txBody>
          <a:bodyPr/>
          <a:lstStyle/>
          <a:p>
            <a:fld id="{9F9FA0B1-E239-40D2-BF4C-0A6AB4F1B37B}" type="datetimeFigureOut">
              <a:rPr lang="fr-CH" smtClean="0"/>
              <a:pPr/>
              <a:t>22.05.2019</a:t>
            </a:fld>
            <a:endParaRPr lang="fr-CH"/>
          </a:p>
        </p:txBody>
      </p:sp>
      <p:sp>
        <p:nvSpPr>
          <p:cNvPr id="5" name="Espace réservé du pied de page 4"/>
          <p:cNvSpPr>
            <a:spLocks noGrp="1"/>
          </p:cNvSpPr>
          <p:nvPr>
            <p:ph type="ftr" sz="quarter" idx="11"/>
          </p:nvPr>
        </p:nvSpPr>
        <p:spPr/>
        <p:txBody>
          <a:bodyPr/>
          <a:lstStyle/>
          <a:p>
            <a:endParaRPr lang="fr-CH"/>
          </a:p>
        </p:txBody>
      </p:sp>
      <p:sp>
        <p:nvSpPr>
          <p:cNvPr id="6" name="Espace réservé du numéro de diapositive 5"/>
          <p:cNvSpPr>
            <a:spLocks noGrp="1"/>
          </p:cNvSpPr>
          <p:nvPr>
            <p:ph type="sldNum" sz="quarter" idx="12"/>
          </p:nvPr>
        </p:nvSpPr>
        <p:spPr/>
        <p:txBody>
          <a:bodyPr/>
          <a:lstStyle/>
          <a:p>
            <a:fld id="{A5A682E0-EF20-4D57-AD3F-22ABC23D7B47}" type="slidenum">
              <a:rPr lang="fr-CH" smtClean="0"/>
              <a:pPr/>
              <a:t>‹N°›</a:t>
            </a:fld>
            <a:endParaRPr lang="fr-CH"/>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CH"/>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CH"/>
          </a:p>
        </p:txBody>
      </p:sp>
      <p:sp>
        <p:nvSpPr>
          <p:cNvPr id="4" name="Espace réservé de la date 3"/>
          <p:cNvSpPr>
            <a:spLocks noGrp="1"/>
          </p:cNvSpPr>
          <p:nvPr>
            <p:ph type="dt" sz="half" idx="10"/>
          </p:nvPr>
        </p:nvSpPr>
        <p:spPr/>
        <p:txBody>
          <a:bodyPr/>
          <a:lstStyle/>
          <a:p>
            <a:fld id="{9F9FA0B1-E239-40D2-BF4C-0A6AB4F1B37B}" type="datetimeFigureOut">
              <a:rPr lang="fr-CH" smtClean="0"/>
              <a:pPr/>
              <a:t>22.05.2019</a:t>
            </a:fld>
            <a:endParaRPr lang="fr-CH"/>
          </a:p>
        </p:txBody>
      </p:sp>
      <p:sp>
        <p:nvSpPr>
          <p:cNvPr id="5" name="Espace réservé du pied de page 4"/>
          <p:cNvSpPr>
            <a:spLocks noGrp="1"/>
          </p:cNvSpPr>
          <p:nvPr>
            <p:ph type="ftr" sz="quarter" idx="11"/>
          </p:nvPr>
        </p:nvSpPr>
        <p:spPr/>
        <p:txBody>
          <a:bodyPr/>
          <a:lstStyle/>
          <a:p>
            <a:endParaRPr lang="fr-CH"/>
          </a:p>
        </p:txBody>
      </p:sp>
      <p:sp>
        <p:nvSpPr>
          <p:cNvPr id="6" name="Espace réservé du numéro de diapositive 5"/>
          <p:cNvSpPr>
            <a:spLocks noGrp="1"/>
          </p:cNvSpPr>
          <p:nvPr>
            <p:ph type="sldNum" sz="quarter" idx="12"/>
          </p:nvPr>
        </p:nvSpPr>
        <p:spPr/>
        <p:txBody>
          <a:bodyPr/>
          <a:lstStyle/>
          <a:p>
            <a:fld id="{A5A682E0-EF20-4D57-AD3F-22ABC23D7B47}" type="slidenum">
              <a:rPr lang="fr-CH" smtClean="0"/>
              <a:pPr/>
              <a:t>‹N°›</a:t>
            </a:fld>
            <a:endParaRPr lang="fr-CH"/>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CH"/>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p>
            <a:fld id="{9F9FA0B1-E239-40D2-BF4C-0A6AB4F1B37B}" type="datetimeFigureOut">
              <a:rPr lang="fr-CH" smtClean="0"/>
              <a:pPr/>
              <a:t>22.05.2019</a:t>
            </a:fld>
            <a:endParaRPr lang="fr-CH"/>
          </a:p>
        </p:txBody>
      </p:sp>
      <p:sp>
        <p:nvSpPr>
          <p:cNvPr id="5" name="Espace réservé du pied de page 4"/>
          <p:cNvSpPr>
            <a:spLocks noGrp="1"/>
          </p:cNvSpPr>
          <p:nvPr>
            <p:ph type="ftr" sz="quarter" idx="11"/>
          </p:nvPr>
        </p:nvSpPr>
        <p:spPr/>
        <p:txBody>
          <a:bodyPr/>
          <a:lstStyle/>
          <a:p>
            <a:endParaRPr lang="fr-CH"/>
          </a:p>
        </p:txBody>
      </p:sp>
      <p:sp>
        <p:nvSpPr>
          <p:cNvPr id="6" name="Espace réservé du numéro de diapositive 5"/>
          <p:cNvSpPr>
            <a:spLocks noGrp="1"/>
          </p:cNvSpPr>
          <p:nvPr>
            <p:ph type="sldNum" sz="quarter" idx="12"/>
          </p:nvPr>
        </p:nvSpPr>
        <p:spPr/>
        <p:txBody>
          <a:bodyPr/>
          <a:lstStyle/>
          <a:p>
            <a:fld id="{A5A682E0-EF20-4D57-AD3F-22ABC23D7B47}" type="slidenum">
              <a:rPr lang="fr-CH" smtClean="0"/>
              <a:pPr/>
              <a:t>‹N°›</a:t>
            </a:fld>
            <a:endParaRPr lang="fr-CH"/>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CH"/>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CH"/>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CH"/>
          </a:p>
        </p:txBody>
      </p:sp>
      <p:sp>
        <p:nvSpPr>
          <p:cNvPr id="5" name="Espace réservé de la date 4"/>
          <p:cNvSpPr>
            <a:spLocks noGrp="1"/>
          </p:cNvSpPr>
          <p:nvPr>
            <p:ph type="dt" sz="half" idx="10"/>
          </p:nvPr>
        </p:nvSpPr>
        <p:spPr/>
        <p:txBody>
          <a:bodyPr/>
          <a:lstStyle/>
          <a:p>
            <a:fld id="{9F9FA0B1-E239-40D2-BF4C-0A6AB4F1B37B}" type="datetimeFigureOut">
              <a:rPr lang="fr-CH" smtClean="0"/>
              <a:pPr/>
              <a:t>22.05.2019</a:t>
            </a:fld>
            <a:endParaRPr lang="fr-CH"/>
          </a:p>
        </p:txBody>
      </p:sp>
      <p:sp>
        <p:nvSpPr>
          <p:cNvPr id="6" name="Espace réservé du pied de page 5"/>
          <p:cNvSpPr>
            <a:spLocks noGrp="1"/>
          </p:cNvSpPr>
          <p:nvPr>
            <p:ph type="ftr" sz="quarter" idx="11"/>
          </p:nvPr>
        </p:nvSpPr>
        <p:spPr/>
        <p:txBody>
          <a:bodyPr/>
          <a:lstStyle/>
          <a:p>
            <a:endParaRPr lang="fr-CH"/>
          </a:p>
        </p:txBody>
      </p:sp>
      <p:sp>
        <p:nvSpPr>
          <p:cNvPr id="7" name="Espace réservé du numéro de diapositive 6"/>
          <p:cNvSpPr>
            <a:spLocks noGrp="1"/>
          </p:cNvSpPr>
          <p:nvPr>
            <p:ph type="sldNum" sz="quarter" idx="12"/>
          </p:nvPr>
        </p:nvSpPr>
        <p:spPr/>
        <p:txBody>
          <a:bodyPr/>
          <a:lstStyle/>
          <a:p>
            <a:fld id="{A5A682E0-EF20-4D57-AD3F-22ABC23D7B47}" type="slidenum">
              <a:rPr lang="fr-CH" smtClean="0"/>
              <a:pPr/>
              <a:t>‹N°›</a:t>
            </a:fld>
            <a:endParaRPr lang="fr-CH"/>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CH"/>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CH"/>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CH"/>
          </a:p>
        </p:txBody>
      </p:sp>
      <p:sp>
        <p:nvSpPr>
          <p:cNvPr id="7" name="Espace réservé de la date 6"/>
          <p:cNvSpPr>
            <a:spLocks noGrp="1"/>
          </p:cNvSpPr>
          <p:nvPr>
            <p:ph type="dt" sz="half" idx="10"/>
          </p:nvPr>
        </p:nvSpPr>
        <p:spPr/>
        <p:txBody>
          <a:bodyPr/>
          <a:lstStyle/>
          <a:p>
            <a:fld id="{9F9FA0B1-E239-40D2-BF4C-0A6AB4F1B37B}" type="datetimeFigureOut">
              <a:rPr lang="fr-CH" smtClean="0"/>
              <a:pPr/>
              <a:t>22.05.2019</a:t>
            </a:fld>
            <a:endParaRPr lang="fr-CH"/>
          </a:p>
        </p:txBody>
      </p:sp>
      <p:sp>
        <p:nvSpPr>
          <p:cNvPr id="8" name="Espace réservé du pied de page 7"/>
          <p:cNvSpPr>
            <a:spLocks noGrp="1"/>
          </p:cNvSpPr>
          <p:nvPr>
            <p:ph type="ftr" sz="quarter" idx="11"/>
          </p:nvPr>
        </p:nvSpPr>
        <p:spPr/>
        <p:txBody>
          <a:bodyPr/>
          <a:lstStyle/>
          <a:p>
            <a:endParaRPr lang="fr-CH"/>
          </a:p>
        </p:txBody>
      </p:sp>
      <p:sp>
        <p:nvSpPr>
          <p:cNvPr id="9" name="Espace réservé du numéro de diapositive 8"/>
          <p:cNvSpPr>
            <a:spLocks noGrp="1"/>
          </p:cNvSpPr>
          <p:nvPr>
            <p:ph type="sldNum" sz="quarter" idx="12"/>
          </p:nvPr>
        </p:nvSpPr>
        <p:spPr/>
        <p:txBody>
          <a:bodyPr/>
          <a:lstStyle/>
          <a:p>
            <a:fld id="{A5A682E0-EF20-4D57-AD3F-22ABC23D7B47}" type="slidenum">
              <a:rPr lang="fr-CH" smtClean="0"/>
              <a:pPr/>
              <a:t>‹N°›</a:t>
            </a:fld>
            <a:endParaRPr lang="fr-CH"/>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CH"/>
          </a:p>
        </p:txBody>
      </p:sp>
      <p:sp>
        <p:nvSpPr>
          <p:cNvPr id="3" name="Espace réservé de la date 2"/>
          <p:cNvSpPr>
            <a:spLocks noGrp="1"/>
          </p:cNvSpPr>
          <p:nvPr>
            <p:ph type="dt" sz="half" idx="10"/>
          </p:nvPr>
        </p:nvSpPr>
        <p:spPr/>
        <p:txBody>
          <a:bodyPr/>
          <a:lstStyle/>
          <a:p>
            <a:fld id="{9F9FA0B1-E239-40D2-BF4C-0A6AB4F1B37B}" type="datetimeFigureOut">
              <a:rPr lang="fr-CH" smtClean="0"/>
              <a:pPr/>
              <a:t>22.05.2019</a:t>
            </a:fld>
            <a:endParaRPr lang="fr-CH"/>
          </a:p>
        </p:txBody>
      </p:sp>
      <p:sp>
        <p:nvSpPr>
          <p:cNvPr id="4" name="Espace réservé du pied de page 3"/>
          <p:cNvSpPr>
            <a:spLocks noGrp="1"/>
          </p:cNvSpPr>
          <p:nvPr>
            <p:ph type="ftr" sz="quarter" idx="11"/>
          </p:nvPr>
        </p:nvSpPr>
        <p:spPr/>
        <p:txBody>
          <a:bodyPr/>
          <a:lstStyle/>
          <a:p>
            <a:endParaRPr lang="fr-CH"/>
          </a:p>
        </p:txBody>
      </p:sp>
      <p:sp>
        <p:nvSpPr>
          <p:cNvPr id="5" name="Espace réservé du numéro de diapositive 4"/>
          <p:cNvSpPr>
            <a:spLocks noGrp="1"/>
          </p:cNvSpPr>
          <p:nvPr>
            <p:ph type="sldNum" sz="quarter" idx="12"/>
          </p:nvPr>
        </p:nvSpPr>
        <p:spPr/>
        <p:txBody>
          <a:bodyPr/>
          <a:lstStyle/>
          <a:p>
            <a:fld id="{A5A682E0-EF20-4D57-AD3F-22ABC23D7B47}" type="slidenum">
              <a:rPr lang="fr-CH" smtClean="0"/>
              <a:pPr/>
              <a:t>‹N°›</a:t>
            </a:fld>
            <a:endParaRPr lang="fr-CH"/>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9F9FA0B1-E239-40D2-BF4C-0A6AB4F1B37B}" type="datetimeFigureOut">
              <a:rPr lang="fr-CH" smtClean="0"/>
              <a:pPr/>
              <a:t>22.05.2019</a:t>
            </a:fld>
            <a:endParaRPr lang="fr-CH"/>
          </a:p>
        </p:txBody>
      </p:sp>
      <p:sp>
        <p:nvSpPr>
          <p:cNvPr id="3" name="Espace réservé du pied de page 2"/>
          <p:cNvSpPr>
            <a:spLocks noGrp="1"/>
          </p:cNvSpPr>
          <p:nvPr>
            <p:ph type="ftr" sz="quarter" idx="11"/>
          </p:nvPr>
        </p:nvSpPr>
        <p:spPr/>
        <p:txBody>
          <a:bodyPr/>
          <a:lstStyle/>
          <a:p>
            <a:endParaRPr lang="fr-CH"/>
          </a:p>
        </p:txBody>
      </p:sp>
      <p:sp>
        <p:nvSpPr>
          <p:cNvPr id="4" name="Espace réservé du numéro de diapositive 3"/>
          <p:cNvSpPr>
            <a:spLocks noGrp="1"/>
          </p:cNvSpPr>
          <p:nvPr>
            <p:ph type="sldNum" sz="quarter" idx="12"/>
          </p:nvPr>
        </p:nvSpPr>
        <p:spPr/>
        <p:txBody>
          <a:bodyPr/>
          <a:lstStyle/>
          <a:p>
            <a:fld id="{A5A682E0-EF20-4D57-AD3F-22ABC23D7B47}" type="slidenum">
              <a:rPr lang="fr-CH" smtClean="0"/>
              <a:pPr/>
              <a:t>‹N°›</a:t>
            </a:fld>
            <a:endParaRPr lang="fr-CH"/>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fr-CH"/>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CH"/>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9F9FA0B1-E239-40D2-BF4C-0A6AB4F1B37B}" type="datetimeFigureOut">
              <a:rPr lang="fr-CH" smtClean="0"/>
              <a:pPr/>
              <a:t>22.05.2019</a:t>
            </a:fld>
            <a:endParaRPr lang="fr-CH"/>
          </a:p>
        </p:txBody>
      </p:sp>
      <p:sp>
        <p:nvSpPr>
          <p:cNvPr id="6" name="Espace réservé du pied de page 5"/>
          <p:cNvSpPr>
            <a:spLocks noGrp="1"/>
          </p:cNvSpPr>
          <p:nvPr>
            <p:ph type="ftr" sz="quarter" idx="11"/>
          </p:nvPr>
        </p:nvSpPr>
        <p:spPr/>
        <p:txBody>
          <a:bodyPr/>
          <a:lstStyle/>
          <a:p>
            <a:endParaRPr lang="fr-CH"/>
          </a:p>
        </p:txBody>
      </p:sp>
      <p:sp>
        <p:nvSpPr>
          <p:cNvPr id="7" name="Espace réservé du numéro de diapositive 6"/>
          <p:cNvSpPr>
            <a:spLocks noGrp="1"/>
          </p:cNvSpPr>
          <p:nvPr>
            <p:ph type="sldNum" sz="quarter" idx="12"/>
          </p:nvPr>
        </p:nvSpPr>
        <p:spPr/>
        <p:txBody>
          <a:bodyPr/>
          <a:lstStyle/>
          <a:p>
            <a:fld id="{A5A682E0-EF20-4D57-AD3F-22ABC23D7B47}" type="slidenum">
              <a:rPr lang="fr-CH" smtClean="0"/>
              <a:pPr/>
              <a:t>‹N°›</a:t>
            </a:fld>
            <a:endParaRPr lang="fr-CH"/>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fr-CH"/>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H"/>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9F9FA0B1-E239-40D2-BF4C-0A6AB4F1B37B}" type="datetimeFigureOut">
              <a:rPr lang="fr-CH" smtClean="0"/>
              <a:pPr/>
              <a:t>22.05.2019</a:t>
            </a:fld>
            <a:endParaRPr lang="fr-CH"/>
          </a:p>
        </p:txBody>
      </p:sp>
      <p:sp>
        <p:nvSpPr>
          <p:cNvPr id="6" name="Espace réservé du pied de page 5"/>
          <p:cNvSpPr>
            <a:spLocks noGrp="1"/>
          </p:cNvSpPr>
          <p:nvPr>
            <p:ph type="ftr" sz="quarter" idx="11"/>
          </p:nvPr>
        </p:nvSpPr>
        <p:spPr/>
        <p:txBody>
          <a:bodyPr/>
          <a:lstStyle/>
          <a:p>
            <a:endParaRPr lang="fr-CH"/>
          </a:p>
        </p:txBody>
      </p:sp>
      <p:sp>
        <p:nvSpPr>
          <p:cNvPr id="7" name="Espace réservé du numéro de diapositive 6"/>
          <p:cNvSpPr>
            <a:spLocks noGrp="1"/>
          </p:cNvSpPr>
          <p:nvPr>
            <p:ph type="sldNum" sz="quarter" idx="12"/>
          </p:nvPr>
        </p:nvSpPr>
        <p:spPr/>
        <p:txBody>
          <a:bodyPr/>
          <a:lstStyle/>
          <a:p>
            <a:fld id="{A5A682E0-EF20-4D57-AD3F-22ABC23D7B47}" type="slidenum">
              <a:rPr lang="fr-CH" smtClean="0"/>
              <a:pPr/>
              <a:t>‹N°›</a:t>
            </a:fld>
            <a:endParaRPr lang="fr-CH"/>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CH"/>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CH"/>
          </a:p>
        </p:txBody>
      </p:sp>
      <p:sp>
        <p:nvSpPr>
          <p:cNvPr id="4" name="Espace réservé de la date 3"/>
          <p:cNvSpPr>
            <a:spLocks noGrp="1"/>
          </p:cNvSpPr>
          <p:nvPr>
            <p:ph type="dt" sz="half" idx="10"/>
          </p:nvPr>
        </p:nvSpPr>
        <p:spPr/>
        <p:txBody>
          <a:bodyPr/>
          <a:lstStyle/>
          <a:p>
            <a:fld id="{9F9FA0B1-E239-40D2-BF4C-0A6AB4F1B37B}" type="datetimeFigureOut">
              <a:rPr lang="fr-CH" smtClean="0"/>
              <a:pPr/>
              <a:t>22.05.2019</a:t>
            </a:fld>
            <a:endParaRPr lang="fr-CH"/>
          </a:p>
        </p:txBody>
      </p:sp>
      <p:sp>
        <p:nvSpPr>
          <p:cNvPr id="5" name="Espace réservé du pied de page 4"/>
          <p:cNvSpPr>
            <a:spLocks noGrp="1"/>
          </p:cNvSpPr>
          <p:nvPr>
            <p:ph type="ftr" sz="quarter" idx="11"/>
          </p:nvPr>
        </p:nvSpPr>
        <p:spPr/>
        <p:txBody>
          <a:bodyPr/>
          <a:lstStyle/>
          <a:p>
            <a:endParaRPr lang="fr-CH"/>
          </a:p>
        </p:txBody>
      </p:sp>
      <p:sp>
        <p:nvSpPr>
          <p:cNvPr id="6" name="Espace réservé du numéro de diapositive 5"/>
          <p:cNvSpPr>
            <a:spLocks noGrp="1"/>
          </p:cNvSpPr>
          <p:nvPr>
            <p:ph type="sldNum" sz="quarter" idx="12"/>
          </p:nvPr>
        </p:nvSpPr>
        <p:spPr/>
        <p:txBody>
          <a:bodyPr/>
          <a:lstStyle/>
          <a:p>
            <a:fld id="{A5A682E0-EF20-4D57-AD3F-22ABC23D7B47}" type="slidenum">
              <a:rPr lang="fr-CH" smtClean="0"/>
              <a:pPr/>
              <a:t>‹N°›</a:t>
            </a:fld>
            <a:endParaRPr lang="fr-CH"/>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fr-CH"/>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CH"/>
          </a:p>
        </p:txBody>
      </p:sp>
      <p:sp>
        <p:nvSpPr>
          <p:cNvPr id="4" name="Espace réservé de la date 3"/>
          <p:cNvSpPr>
            <a:spLocks noGrp="1"/>
          </p:cNvSpPr>
          <p:nvPr>
            <p:ph type="dt" sz="half" idx="10"/>
          </p:nvPr>
        </p:nvSpPr>
        <p:spPr/>
        <p:txBody>
          <a:bodyPr/>
          <a:lstStyle/>
          <a:p>
            <a:fld id="{9F9FA0B1-E239-40D2-BF4C-0A6AB4F1B37B}" type="datetimeFigureOut">
              <a:rPr lang="fr-CH" smtClean="0"/>
              <a:pPr/>
              <a:t>22.05.2019</a:t>
            </a:fld>
            <a:endParaRPr lang="fr-CH"/>
          </a:p>
        </p:txBody>
      </p:sp>
      <p:sp>
        <p:nvSpPr>
          <p:cNvPr id="5" name="Espace réservé du pied de page 4"/>
          <p:cNvSpPr>
            <a:spLocks noGrp="1"/>
          </p:cNvSpPr>
          <p:nvPr>
            <p:ph type="ftr" sz="quarter" idx="11"/>
          </p:nvPr>
        </p:nvSpPr>
        <p:spPr/>
        <p:txBody>
          <a:bodyPr/>
          <a:lstStyle/>
          <a:p>
            <a:endParaRPr lang="fr-CH"/>
          </a:p>
        </p:txBody>
      </p:sp>
      <p:sp>
        <p:nvSpPr>
          <p:cNvPr id="6" name="Espace réservé du numéro de diapositive 5"/>
          <p:cNvSpPr>
            <a:spLocks noGrp="1"/>
          </p:cNvSpPr>
          <p:nvPr>
            <p:ph type="sldNum" sz="quarter" idx="12"/>
          </p:nvPr>
        </p:nvSpPr>
        <p:spPr/>
        <p:txBody>
          <a:bodyPr/>
          <a:lstStyle/>
          <a:p>
            <a:fld id="{A5A682E0-EF20-4D57-AD3F-22ABC23D7B47}" type="slidenum">
              <a:rPr lang="fr-CH" smtClean="0"/>
              <a:pPr/>
              <a:t>‹N°›</a:t>
            </a:fld>
            <a:endParaRPr lang="fr-CH"/>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pour modifier le style du titre</a:t>
            </a:r>
            <a:endParaRPr lang="fr-CH"/>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CH"/>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9FA0B1-E239-40D2-BF4C-0A6AB4F1B37B}" type="datetimeFigureOut">
              <a:rPr lang="fr-CH" smtClean="0"/>
              <a:pPr/>
              <a:t>22.05.2019</a:t>
            </a:fld>
            <a:endParaRPr lang="fr-CH"/>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H"/>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A682E0-EF20-4D57-AD3F-22ABC23D7B47}" type="slidenum">
              <a:rPr lang="fr-CH" smtClean="0"/>
              <a:pPr/>
              <a:t>‹N°›</a:t>
            </a:fld>
            <a:endParaRPr lang="fr-CH"/>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CH" dirty="0" smtClean="0"/>
              <a:t>Répétitoire </a:t>
            </a:r>
            <a:r>
              <a:rPr lang="fr-CH" smtClean="0"/>
              <a:t>MMed3 </a:t>
            </a:r>
            <a:r>
              <a:rPr lang="fr-CH" smtClean="0"/>
              <a:t>2019</a:t>
            </a:r>
            <a:endParaRPr lang="fr-CH" dirty="0"/>
          </a:p>
        </p:txBody>
      </p:sp>
      <p:sp>
        <p:nvSpPr>
          <p:cNvPr id="3" name="Sous-titre 2"/>
          <p:cNvSpPr>
            <a:spLocks noGrp="1"/>
          </p:cNvSpPr>
          <p:nvPr>
            <p:ph type="subTitle" idx="1"/>
          </p:nvPr>
        </p:nvSpPr>
        <p:spPr/>
        <p:txBody>
          <a:bodyPr/>
          <a:lstStyle/>
          <a:p>
            <a:r>
              <a:rPr lang="fr-CH" dirty="0" smtClean="0"/>
              <a:t>Prof P Conus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3600" dirty="0" smtClean="0"/>
              <a:t>Psychiatrie</a:t>
            </a:r>
            <a:endParaRPr lang="fr-FR" sz="3600" dirty="0"/>
          </a:p>
        </p:txBody>
      </p:sp>
      <p:pic>
        <p:nvPicPr>
          <p:cNvPr id="4" name="Image 3"/>
          <p:cNvPicPr>
            <a:picLocks noChangeAspect="1"/>
          </p:cNvPicPr>
          <p:nvPr/>
        </p:nvPicPr>
        <p:blipFill>
          <a:blip r:embed="rId2" cstate="print"/>
          <a:stretch>
            <a:fillRect/>
          </a:stretch>
        </p:blipFill>
        <p:spPr>
          <a:xfrm>
            <a:off x="0" y="558800"/>
            <a:ext cx="9144000" cy="5739319"/>
          </a:xfrm>
          <a:prstGeom prst="rect">
            <a:avLst/>
          </a:prstGeom>
        </p:spPr>
      </p:pic>
    </p:spTree>
    <p:extLst>
      <p:ext uri="{BB962C8B-B14F-4D97-AF65-F5344CB8AC3E}">
        <p14:creationId xmlns:p14="http://schemas.microsoft.com/office/powerpoint/2010/main" val="12606490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99592" y="3789040"/>
            <a:ext cx="360040" cy="28803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2" name="Titre 1"/>
          <p:cNvSpPr>
            <a:spLocks noGrp="1"/>
          </p:cNvSpPr>
          <p:nvPr>
            <p:ph type="title"/>
          </p:nvPr>
        </p:nvSpPr>
        <p:spPr/>
        <p:txBody>
          <a:bodyPr>
            <a:normAutofit/>
          </a:bodyPr>
          <a:lstStyle/>
          <a:p>
            <a:r>
              <a:rPr lang="fr-FR" sz="3600" dirty="0"/>
              <a:t>Schizophrénie</a:t>
            </a:r>
          </a:p>
        </p:txBody>
      </p:sp>
      <p:sp>
        <p:nvSpPr>
          <p:cNvPr id="4" name="Espace réservé du contenu 3"/>
          <p:cNvSpPr>
            <a:spLocks noGrp="1"/>
          </p:cNvSpPr>
          <p:nvPr>
            <p:ph idx="1"/>
          </p:nvPr>
        </p:nvSpPr>
        <p:spPr/>
        <p:txBody>
          <a:bodyPr>
            <a:normAutofit/>
          </a:bodyPr>
          <a:lstStyle/>
          <a:p>
            <a:pPr marL="0" lvl="0" indent="0" fontAlgn="base">
              <a:spcBef>
                <a:spcPct val="0"/>
              </a:spcBef>
              <a:spcAft>
                <a:spcPct val="0"/>
              </a:spcAft>
              <a:buNone/>
            </a:pPr>
            <a:r>
              <a:rPr lang="fr-CH" sz="2000" dirty="0">
                <a:ea typeface="Calibri" pitchFamily="34" charset="0"/>
                <a:cs typeface="Times New Roman" pitchFamily="18" charset="0"/>
              </a:rPr>
              <a:t>Le frère jumeau (monozygote ou « vrai jumeau ») d’un jeune patient qui souffre d’une schizophrénie vient vous voir pour vous demander quel est le risque qu’il développe lui aussi la maladie. Quelle est la réponse la plus proche de la réalité ?</a:t>
            </a:r>
          </a:p>
          <a:p>
            <a:pPr marL="0" lvl="0" indent="0" fontAlgn="base">
              <a:spcBef>
                <a:spcPct val="0"/>
              </a:spcBef>
              <a:spcAft>
                <a:spcPct val="0"/>
              </a:spcAft>
              <a:buNone/>
            </a:pPr>
            <a:endParaRPr lang="fr-CH" sz="2000" dirty="0"/>
          </a:p>
          <a:p>
            <a:pPr marL="800100" lvl="1" indent="-342900" eaLnBrk="0" fontAlgn="base" hangingPunct="0">
              <a:spcBef>
                <a:spcPct val="0"/>
              </a:spcBef>
              <a:spcAft>
                <a:spcPct val="0"/>
              </a:spcAft>
              <a:buFont typeface="+mj-lt"/>
              <a:buAutoNum type="alphaUcPeriod"/>
            </a:pPr>
            <a:r>
              <a:rPr lang="fr-CH" sz="2000" dirty="0">
                <a:ea typeface="Calibri" pitchFamily="34" charset="0"/>
                <a:cs typeface="Times New Roman" pitchFamily="18" charset="0"/>
              </a:rPr>
              <a:t>1%</a:t>
            </a:r>
            <a:endParaRPr lang="fr-CH" sz="2000" dirty="0"/>
          </a:p>
          <a:p>
            <a:pPr marL="800100" lvl="1" indent="-342900" eaLnBrk="0" fontAlgn="base" hangingPunct="0">
              <a:spcBef>
                <a:spcPct val="0"/>
              </a:spcBef>
              <a:spcAft>
                <a:spcPct val="0"/>
              </a:spcAft>
              <a:buFont typeface="+mj-lt"/>
              <a:buAutoNum type="alphaUcPeriod"/>
            </a:pPr>
            <a:r>
              <a:rPr lang="fr-CH" sz="2000" dirty="0">
                <a:ea typeface="Calibri" pitchFamily="34" charset="0"/>
                <a:cs typeface="Times New Roman" pitchFamily="18" charset="0"/>
              </a:rPr>
              <a:t>15%</a:t>
            </a:r>
            <a:endParaRPr lang="fr-CH" sz="2000" dirty="0"/>
          </a:p>
          <a:p>
            <a:pPr marL="800100" lvl="1" indent="-342900" eaLnBrk="0" fontAlgn="base" hangingPunct="0">
              <a:spcBef>
                <a:spcPct val="0"/>
              </a:spcBef>
              <a:spcAft>
                <a:spcPct val="0"/>
              </a:spcAft>
              <a:buFont typeface="+mj-lt"/>
              <a:buAutoNum type="alphaUcPeriod"/>
            </a:pPr>
            <a:r>
              <a:rPr lang="fr-CH" sz="2000" dirty="0">
                <a:ea typeface="Calibri" pitchFamily="34" charset="0"/>
                <a:cs typeface="Times New Roman" pitchFamily="18" charset="0"/>
              </a:rPr>
              <a:t>50%</a:t>
            </a:r>
            <a:endParaRPr lang="fr-CH" sz="2000" dirty="0"/>
          </a:p>
          <a:p>
            <a:pPr marL="800100" lvl="1" indent="-342900" eaLnBrk="0" fontAlgn="base" hangingPunct="0">
              <a:spcBef>
                <a:spcPct val="0"/>
              </a:spcBef>
              <a:spcAft>
                <a:spcPct val="0"/>
              </a:spcAft>
              <a:buFont typeface="+mj-lt"/>
              <a:buAutoNum type="alphaUcPeriod"/>
            </a:pPr>
            <a:r>
              <a:rPr lang="fr-CH" sz="2000" dirty="0">
                <a:ea typeface="Calibri" pitchFamily="34" charset="0"/>
                <a:cs typeface="Times New Roman" pitchFamily="18" charset="0"/>
              </a:rPr>
              <a:t>85%</a:t>
            </a:r>
          </a:p>
          <a:p>
            <a:pPr marL="800100" lvl="1" indent="-342900" eaLnBrk="0" fontAlgn="base" hangingPunct="0">
              <a:spcBef>
                <a:spcPct val="0"/>
              </a:spcBef>
              <a:spcAft>
                <a:spcPct val="0"/>
              </a:spcAft>
              <a:buFont typeface="+mj-lt"/>
              <a:buAutoNum type="alphaUcPeriod"/>
            </a:pPr>
            <a:r>
              <a:rPr lang="fr-CH" sz="2000" dirty="0">
                <a:ea typeface="Calibri" pitchFamily="34" charset="0"/>
                <a:cs typeface="Times New Roman" pitchFamily="18" charset="0"/>
              </a:rPr>
              <a:t>100%</a:t>
            </a:r>
            <a:r>
              <a:rPr lang="fr-CH" sz="2000" dirty="0"/>
              <a:t> </a:t>
            </a:r>
          </a:p>
          <a:p>
            <a:pPr marL="0" indent="0" eaLnBrk="0" fontAlgn="base" hangingPunct="0">
              <a:spcBef>
                <a:spcPct val="0"/>
              </a:spcBef>
              <a:spcAft>
                <a:spcPct val="0"/>
              </a:spcAft>
              <a:buNone/>
            </a:pPr>
            <a:endParaRPr lang="fr-CH" sz="2000" dirty="0" smtClean="0"/>
          </a:p>
          <a:p>
            <a:pPr marL="0" indent="0" eaLnBrk="0" fontAlgn="base" hangingPunct="0">
              <a:spcBef>
                <a:spcPct val="0"/>
              </a:spcBef>
              <a:spcAft>
                <a:spcPct val="0"/>
              </a:spcAft>
              <a:buNone/>
            </a:pPr>
            <a:endParaRPr lang="fr-CH" sz="2000" dirty="0"/>
          </a:p>
          <a:p>
            <a:pPr marL="0" indent="0" eaLnBrk="0" fontAlgn="base" hangingPunct="0">
              <a:spcBef>
                <a:spcPct val="0"/>
              </a:spcBef>
              <a:spcAft>
                <a:spcPct val="0"/>
              </a:spcAft>
              <a:buNone/>
            </a:pPr>
            <a:endParaRPr lang="fr-CH" sz="2000" dirty="0" smtClean="0"/>
          </a:p>
          <a:p>
            <a:pPr marL="0" indent="0" eaLnBrk="0" fontAlgn="base" hangingPunct="0">
              <a:spcBef>
                <a:spcPct val="0"/>
              </a:spcBef>
              <a:spcAft>
                <a:spcPct val="0"/>
              </a:spcAft>
              <a:buNone/>
            </a:pPr>
            <a:r>
              <a:rPr lang="fr-CH" sz="2000" dirty="0" smtClean="0"/>
              <a:t>P. Conus</a:t>
            </a:r>
            <a:endParaRPr lang="fr-CH" sz="2000" dirty="0"/>
          </a:p>
          <a:p>
            <a:pPr marL="0" indent="0">
              <a:buNone/>
            </a:pPr>
            <a:endParaRPr lang="fr-FR"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899592" y="3140968"/>
            <a:ext cx="360040" cy="28803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4" name="Titre 3"/>
          <p:cNvSpPr>
            <a:spLocks noGrp="1"/>
          </p:cNvSpPr>
          <p:nvPr>
            <p:ph type="title"/>
          </p:nvPr>
        </p:nvSpPr>
        <p:spPr/>
        <p:txBody>
          <a:bodyPr>
            <a:normAutofit/>
          </a:bodyPr>
          <a:lstStyle/>
          <a:p>
            <a:r>
              <a:rPr lang="fr-FR" sz="3600" dirty="0"/>
              <a:t>Schizophrénie</a:t>
            </a:r>
          </a:p>
        </p:txBody>
      </p:sp>
      <p:sp>
        <p:nvSpPr>
          <p:cNvPr id="5" name="Espace réservé du contenu 4"/>
          <p:cNvSpPr>
            <a:spLocks noGrp="1"/>
          </p:cNvSpPr>
          <p:nvPr>
            <p:ph idx="1"/>
          </p:nvPr>
        </p:nvSpPr>
        <p:spPr/>
        <p:txBody>
          <a:bodyPr>
            <a:normAutofit/>
          </a:bodyPr>
          <a:lstStyle/>
          <a:p>
            <a:pPr marL="0" indent="0">
              <a:buNone/>
            </a:pPr>
            <a:r>
              <a:rPr lang="fr-CH" sz="2000" dirty="0"/>
              <a:t>Laquelle des affirmations suivantes au sujet de la schizophrénie est </a:t>
            </a:r>
            <a:r>
              <a:rPr lang="fr-CH" sz="2000" b="1" dirty="0"/>
              <a:t>fausse</a:t>
            </a:r>
            <a:r>
              <a:rPr lang="fr-CH" sz="2000" dirty="0"/>
              <a:t> ?</a:t>
            </a:r>
          </a:p>
          <a:p>
            <a:endParaRPr lang="fr-CH" sz="2000" dirty="0"/>
          </a:p>
          <a:p>
            <a:pPr marL="800100" lvl="1" indent="-342900">
              <a:buFont typeface="+mj-lt"/>
              <a:buAutoNum type="alphaUcPeriod"/>
            </a:pPr>
            <a:r>
              <a:rPr lang="fr-CH" sz="2000" dirty="0"/>
              <a:t>Le stress joue un rôle dans la survenue d’épisodes aigus</a:t>
            </a:r>
          </a:p>
          <a:p>
            <a:pPr marL="800100" lvl="1" indent="-342900">
              <a:buFont typeface="+mj-lt"/>
              <a:buAutoNum type="alphaUcPeriod"/>
            </a:pPr>
            <a:r>
              <a:rPr lang="fr-CH" sz="2000" dirty="0"/>
              <a:t>Le délai avant la mise en route d’un traitement est souvent très long</a:t>
            </a:r>
          </a:p>
          <a:p>
            <a:pPr marL="800100" lvl="1" indent="-342900">
              <a:buFont typeface="+mj-lt"/>
              <a:buAutoNum type="alphaUcPeriod"/>
            </a:pPr>
            <a:r>
              <a:rPr lang="fr-CH" sz="2000" dirty="0"/>
              <a:t>Son traitement est exclusivement médicamenteux</a:t>
            </a:r>
          </a:p>
          <a:p>
            <a:pPr marL="800100" lvl="1" indent="-342900">
              <a:buFont typeface="+mj-lt"/>
              <a:buAutoNum type="alphaUcPeriod"/>
            </a:pPr>
            <a:r>
              <a:rPr lang="fr-CH" sz="2000" dirty="0"/>
              <a:t>Elle se déclare dans la majorité des cas entre 15 et 25 ans</a:t>
            </a:r>
          </a:p>
          <a:p>
            <a:pPr marL="800100" lvl="1" indent="-342900">
              <a:buFont typeface="+mj-lt"/>
              <a:buAutoNum type="alphaUcPeriod"/>
            </a:pPr>
            <a:r>
              <a:rPr lang="fr-CH" sz="2000" dirty="0"/>
              <a:t>L’environnement peut jouer un rôle dans son développement</a:t>
            </a:r>
          </a:p>
          <a:p>
            <a:pPr lvl="0"/>
            <a:endParaRPr lang="fr-CH" sz="2000" dirty="0"/>
          </a:p>
          <a:p>
            <a:pPr marL="0" lvl="0" indent="0">
              <a:buNone/>
            </a:pPr>
            <a:endParaRPr lang="fr-CH" sz="2000" dirty="0" smtClean="0"/>
          </a:p>
          <a:p>
            <a:pPr marL="0" lvl="0" indent="0">
              <a:buNone/>
            </a:pPr>
            <a:endParaRPr lang="fr-CH" sz="2000" dirty="0"/>
          </a:p>
          <a:p>
            <a:pPr marL="0" lvl="0" indent="0">
              <a:buNone/>
            </a:pPr>
            <a:endParaRPr lang="fr-CH" sz="2000" dirty="0" smtClean="0"/>
          </a:p>
          <a:p>
            <a:pPr marL="0" lvl="0" indent="0">
              <a:buNone/>
            </a:pPr>
            <a:r>
              <a:rPr lang="fr-CH" sz="2000" dirty="0" smtClean="0"/>
              <a:t>P. Conus</a:t>
            </a:r>
            <a:endParaRPr lang="fr-CH" sz="2000" dirty="0"/>
          </a:p>
          <a:p>
            <a:pPr marL="0" indent="0">
              <a:buNone/>
            </a:pPr>
            <a:endParaRPr lang="fr-FR"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99592" y="5085184"/>
            <a:ext cx="360040" cy="28803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4" name="Titre 3"/>
          <p:cNvSpPr>
            <a:spLocks noGrp="1"/>
          </p:cNvSpPr>
          <p:nvPr>
            <p:ph type="title"/>
          </p:nvPr>
        </p:nvSpPr>
        <p:spPr/>
        <p:txBody>
          <a:bodyPr>
            <a:normAutofit/>
          </a:bodyPr>
          <a:lstStyle/>
          <a:p>
            <a:r>
              <a:rPr lang="fr-FR" sz="3600" dirty="0" smtClean="0"/>
              <a:t>Schizophrénie</a:t>
            </a:r>
            <a:endParaRPr lang="fr-FR" sz="3600" dirty="0"/>
          </a:p>
        </p:txBody>
      </p:sp>
      <p:sp>
        <p:nvSpPr>
          <p:cNvPr id="5" name="Espace réservé du contenu 4"/>
          <p:cNvSpPr>
            <a:spLocks noGrp="1"/>
          </p:cNvSpPr>
          <p:nvPr>
            <p:ph idx="1"/>
          </p:nvPr>
        </p:nvSpPr>
        <p:spPr/>
        <p:txBody>
          <a:bodyPr>
            <a:noAutofit/>
          </a:bodyPr>
          <a:lstStyle/>
          <a:p>
            <a:pPr marL="0" indent="0">
              <a:buNone/>
            </a:pPr>
            <a:r>
              <a:rPr lang="fr-CH" sz="2000" dirty="0"/>
              <a:t>A propos de schizophrénie, laquelle des affirmations suivantes est </a:t>
            </a:r>
            <a:r>
              <a:rPr lang="fr-CH" sz="2000" b="1" dirty="0"/>
              <a:t>correcte</a:t>
            </a:r>
            <a:r>
              <a:rPr lang="fr-CH" sz="2000" dirty="0"/>
              <a:t>?</a:t>
            </a:r>
          </a:p>
          <a:p>
            <a:endParaRPr lang="fr-CH" sz="2000" dirty="0"/>
          </a:p>
          <a:p>
            <a:pPr marL="800100" lvl="1" indent="-342900">
              <a:buFont typeface="+mj-lt"/>
              <a:buAutoNum type="alphaUcPeriod"/>
            </a:pPr>
            <a:r>
              <a:rPr lang="fr-CH" sz="2000" dirty="0"/>
              <a:t>Cinq ans après un premier épisode, moins de 15 % des patients présentent une rémission des symptômes positifs</a:t>
            </a:r>
          </a:p>
          <a:p>
            <a:pPr marL="800100" lvl="1" indent="-342900">
              <a:buFont typeface="+mj-lt"/>
              <a:buAutoNum type="alphaUcPeriod"/>
            </a:pPr>
            <a:r>
              <a:rPr lang="fr-CH" sz="2000" dirty="0"/>
              <a:t>En moyenne, les femmes font leur première décompensation à un </a:t>
            </a:r>
            <a:r>
              <a:rPr lang="fr-CH" sz="2000" dirty="0" smtClean="0"/>
              <a:t>plus jeune âge que </a:t>
            </a:r>
            <a:r>
              <a:rPr lang="fr-CH" sz="2000" dirty="0"/>
              <a:t>les </a:t>
            </a:r>
            <a:r>
              <a:rPr lang="fr-CH" sz="2000" dirty="0" smtClean="0"/>
              <a:t>hommes</a:t>
            </a:r>
          </a:p>
          <a:p>
            <a:pPr marL="800100" lvl="1" indent="-342900">
              <a:buFont typeface="+mj-lt"/>
              <a:buAutoNum type="alphaUcPeriod"/>
            </a:pPr>
            <a:r>
              <a:rPr lang="fr-CH" sz="2000" dirty="0" smtClean="0"/>
              <a:t>Il </a:t>
            </a:r>
            <a:r>
              <a:rPr lang="fr-CH" sz="2000" dirty="0"/>
              <a:t>vaut mieux ne jamais évoquer le diagnostic de schizophrénie avec un patient, car il est trop stigmatisant</a:t>
            </a:r>
          </a:p>
          <a:p>
            <a:pPr marL="800100" lvl="1" indent="-342900">
              <a:buFont typeface="+mj-lt"/>
              <a:buAutoNum type="alphaUcPeriod"/>
            </a:pPr>
            <a:r>
              <a:rPr lang="fr-CH" sz="2000" dirty="0"/>
              <a:t>La prévalence de la schizophrénie dans la population générale est de l’ordre de 1 pour mille</a:t>
            </a:r>
          </a:p>
          <a:p>
            <a:pPr marL="800100" lvl="1" indent="-342900">
              <a:buFont typeface="+mj-lt"/>
              <a:buAutoNum type="alphaUcPeriod"/>
            </a:pPr>
            <a:r>
              <a:rPr lang="fr-CH" sz="2000" dirty="0"/>
              <a:t>Environ 80 % des patients schizophrènes souffrent de troubles d’au moins une fonction cognitive (attention, mémoire, fonctions exécutives, etc.)</a:t>
            </a:r>
          </a:p>
          <a:p>
            <a:pPr marL="0" indent="0">
              <a:buNone/>
            </a:pPr>
            <a:r>
              <a:rPr lang="fr-CH" sz="2000" dirty="0" smtClean="0"/>
              <a:t>P. Bovet</a:t>
            </a:r>
            <a:endParaRPr lang="fr-CH" sz="2000" dirty="0"/>
          </a:p>
          <a:p>
            <a:pPr marL="0" indent="0">
              <a:buNone/>
            </a:pPr>
            <a:endParaRPr lang="fr-FR"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noFill/>
          <a:ln/>
        </p:spPr>
        <p:txBody>
          <a:bodyPr>
            <a:normAutofit/>
          </a:bodyPr>
          <a:lstStyle/>
          <a:p>
            <a:r>
              <a:rPr lang="fr-FR" sz="3600" dirty="0"/>
              <a:t>Symptômes dits «positifs»</a:t>
            </a:r>
          </a:p>
        </p:txBody>
      </p:sp>
      <p:sp>
        <p:nvSpPr>
          <p:cNvPr id="5123" name="Rectangle 3"/>
          <p:cNvSpPr>
            <a:spLocks noGrp="1" noChangeArrowheads="1"/>
          </p:cNvSpPr>
          <p:nvPr>
            <p:ph idx="1"/>
          </p:nvPr>
        </p:nvSpPr>
        <p:spPr>
          <a:noFill/>
          <a:ln/>
        </p:spPr>
        <p:txBody>
          <a:bodyPr>
            <a:normAutofit/>
          </a:bodyPr>
          <a:lstStyle/>
          <a:p>
            <a:pPr>
              <a:lnSpc>
                <a:spcPct val="90000"/>
              </a:lnSpc>
            </a:pPr>
            <a:r>
              <a:rPr lang="fr-FR" sz="2400" dirty="0"/>
              <a:t>Délire</a:t>
            </a:r>
          </a:p>
          <a:p>
            <a:pPr>
              <a:lnSpc>
                <a:spcPct val="90000"/>
              </a:lnSpc>
            </a:pPr>
            <a:r>
              <a:rPr lang="fr-FR" sz="2400" dirty="0"/>
              <a:t>Hallucinations</a:t>
            </a:r>
          </a:p>
          <a:p>
            <a:pPr>
              <a:lnSpc>
                <a:spcPct val="90000"/>
              </a:lnSpc>
            </a:pPr>
            <a:r>
              <a:rPr lang="fr-FR" sz="2400" dirty="0"/>
              <a:t>Troubles de la pensée formelle</a:t>
            </a:r>
          </a:p>
          <a:p>
            <a:pPr>
              <a:lnSpc>
                <a:spcPct val="90000"/>
              </a:lnSpc>
            </a:pPr>
            <a:r>
              <a:rPr lang="fr-FR" sz="2400" dirty="0"/>
              <a:t>Automatisme mental (troubles de l</a:t>
            </a:r>
            <a:r>
              <a:rPr lang="ja-JP" altLang="fr-FR" sz="2400" dirty="0">
                <a:latin typeface="Arial"/>
              </a:rPr>
              <a:t>’</a:t>
            </a:r>
            <a:r>
              <a:rPr lang="fr-FR" sz="2400" dirty="0"/>
              <a:t>intimité de la pensée)</a:t>
            </a:r>
          </a:p>
          <a:p>
            <a:pPr>
              <a:lnSpc>
                <a:spcPct val="90000"/>
              </a:lnSpc>
            </a:pPr>
            <a:r>
              <a:rPr lang="fr-FR" sz="2400" dirty="0"/>
              <a:t>Bizarreries majeures du comportement</a:t>
            </a:r>
          </a:p>
          <a:p>
            <a:pPr>
              <a:lnSpc>
                <a:spcPct val="90000"/>
              </a:lnSpc>
            </a:pPr>
            <a:r>
              <a:rPr lang="fr-FR" sz="2400" dirty="0"/>
              <a:t>Affects inappropriés</a:t>
            </a:r>
          </a:p>
        </p:txBody>
      </p:sp>
    </p:spTree>
    <p:extLst>
      <p:ext uri="{BB962C8B-B14F-4D97-AF65-F5344CB8AC3E}">
        <p14:creationId xmlns:p14="http://schemas.microsoft.com/office/powerpoint/2010/main" val="3246308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solidFill>
            <a:srgbClr val="FFFFFF"/>
          </a:solidFill>
          <a:ln/>
        </p:spPr>
        <p:txBody>
          <a:bodyPr>
            <a:normAutofit/>
          </a:bodyPr>
          <a:lstStyle/>
          <a:p>
            <a:r>
              <a:rPr lang="fr-FR" sz="3600"/>
              <a:t>Symptômes dits «négatifs»</a:t>
            </a:r>
          </a:p>
        </p:txBody>
      </p:sp>
      <p:sp>
        <p:nvSpPr>
          <p:cNvPr id="6147" name="Rectangle 3"/>
          <p:cNvSpPr>
            <a:spLocks noGrp="1" noChangeArrowheads="1"/>
          </p:cNvSpPr>
          <p:nvPr>
            <p:ph idx="1"/>
          </p:nvPr>
        </p:nvSpPr>
        <p:spPr>
          <a:noFill/>
          <a:ln/>
        </p:spPr>
        <p:txBody>
          <a:bodyPr>
            <a:normAutofit/>
          </a:bodyPr>
          <a:lstStyle/>
          <a:p>
            <a:r>
              <a:rPr lang="fr-FR" sz="2400" dirty="0"/>
              <a:t>Pauvreté du langage (alogie)</a:t>
            </a:r>
          </a:p>
          <a:p>
            <a:r>
              <a:rPr lang="fr-FR" sz="2400" dirty="0"/>
              <a:t>Abrasement des affects</a:t>
            </a:r>
          </a:p>
          <a:p>
            <a:r>
              <a:rPr lang="fr-FR" sz="2400" dirty="0"/>
              <a:t>Inhibition de la volonté (</a:t>
            </a:r>
            <a:r>
              <a:rPr lang="fr-FR" sz="2400" dirty="0" err="1"/>
              <a:t>avolition</a:t>
            </a:r>
            <a:r>
              <a:rPr lang="fr-FR" sz="2400" dirty="0"/>
              <a:t>)</a:t>
            </a:r>
          </a:p>
          <a:p>
            <a:r>
              <a:rPr lang="fr-FR" sz="2400" dirty="0"/>
              <a:t>Inhibition de l</a:t>
            </a:r>
            <a:r>
              <a:rPr lang="ja-JP" altLang="fr-FR" sz="2400" dirty="0">
                <a:latin typeface="Arial"/>
              </a:rPr>
              <a:t>’</a:t>
            </a:r>
            <a:r>
              <a:rPr lang="fr-FR" sz="2400" dirty="0"/>
              <a:t>agir (apragmatisme)</a:t>
            </a:r>
          </a:p>
          <a:p>
            <a:r>
              <a:rPr lang="fr-FR" sz="2400" dirty="0"/>
              <a:t>Perte du sentiment de plaisir (</a:t>
            </a:r>
            <a:r>
              <a:rPr lang="fr-FR" sz="2400" dirty="0" err="1"/>
              <a:t>anhédonie</a:t>
            </a:r>
            <a:r>
              <a:rPr lang="fr-FR" sz="2400" dirty="0"/>
              <a:t>)</a:t>
            </a:r>
          </a:p>
          <a:p>
            <a:r>
              <a:rPr lang="fr-FR" sz="2400" dirty="0"/>
              <a:t>Sociabilité diminuée</a:t>
            </a:r>
          </a:p>
        </p:txBody>
      </p:sp>
    </p:spTree>
    <p:extLst>
      <p:ext uri="{BB962C8B-B14F-4D97-AF65-F5344CB8AC3E}">
        <p14:creationId xmlns:p14="http://schemas.microsoft.com/office/powerpoint/2010/main" val="2784014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solidFill>
            <a:srgbClr val="FFFFFF"/>
          </a:solidFill>
          <a:ln/>
        </p:spPr>
        <p:txBody>
          <a:bodyPr>
            <a:normAutofit/>
          </a:bodyPr>
          <a:lstStyle/>
          <a:p>
            <a:r>
              <a:rPr lang="fr-FR" sz="3200" dirty="0"/>
              <a:t>Troubles des fonctions cognitives</a:t>
            </a:r>
            <a:br>
              <a:rPr lang="fr-FR" sz="3200" dirty="0"/>
            </a:br>
            <a:r>
              <a:rPr lang="fr-FR" sz="2400" dirty="0"/>
              <a:t>(essentiellement préfrontales)</a:t>
            </a:r>
          </a:p>
        </p:txBody>
      </p:sp>
      <p:sp>
        <p:nvSpPr>
          <p:cNvPr id="7171" name="Rectangle 3"/>
          <p:cNvSpPr>
            <a:spLocks noGrp="1" noChangeArrowheads="1"/>
          </p:cNvSpPr>
          <p:nvPr>
            <p:ph idx="1"/>
          </p:nvPr>
        </p:nvSpPr>
        <p:spPr>
          <a:noFill/>
          <a:ln/>
        </p:spPr>
        <p:txBody>
          <a:bodyPr>
            <a:normAutofit/>
          </a:bodyPr>
          <a:lstStyle/>
          <a:p>
            <a:r>
              <a:rPr lang="fr-FR" sz="2400" dirty="0"/>
              <a:t>Mémoire (</a:t>
            </a:r>
            <a:r>
              <a:rPr lang="fr-FR" sz="2400" dirty="0" err="1"/>
              <a:t>yc</a:t>
            </a:r>
            <a:r>
              <a:rPr lang="fr-FR" sz="2400" dirty="0"/>
              <a:t> mémoire de travail)</a:t>
            </a:r>
          </a:p>
          <a:p>
            <a:r>
              <a:rPr lang="fr-FR" sz="2400" dirty="0"/>
              <a:t>Capacité d</a:t>
            </a:r>
            <a:r>
              <a:rPr lang="ja-JP" altLang="fr-FR" sz="2400" dirty="0">
                <a:latin typeface="Arial"/>
              </a:rPr>
              <a:t>’</a:t>
            </a:r>
            <a:r>
              <a:rPr lang="fr-FR" sz="2400" dirty="0"/>
              <a:t>abstraction et de catégorisation</a:t>
            </a:r>
          </a:p>
          <a:p>
            <a:r>
              <a:rPr lang="fr-FR" sz="2400" dirty="0"/>
              <a:t>Capacité de planification</a:t>
            </a:r>
          </a:p>
          <a:p>
            <a:r>
              <a:rPr lang="fr-FR" sz="2400" dirty="0"/>
              <a:t>Focalisation de </a:t>
            </a:r>
            <a:r>
              <a:rPr lang="fr-FR" sz="2400" dirty="0" smtClean="0"/>
              <a:t>l</a:t>
            </a:r>
            <a:r>
              <a:rPr lang="fr-CH" sz="2400" dirty="0" smtClean="0">
                <a:latin typeface="Arial"/>
              </a:rPr>
              <a:t>’</a:t>
            </a:r>
            <a:r>
              <a:rPr lang="fr-FR" sz="2400" dirty="0" smtClean="0"/>
              <a:t>attention</a:t>
            </a:r>
            <a:endParaRPr lang="fr-FR" sz="2400" dirty="0"/>
          </a:p>
          <a:p>
            <a:r>
              <a:rPr lang="fr-FR" sz="2400" dirty="0"/>
              <a:t>Attention soutenue</a:t>
            </a:r>
          </a:p>
        </p:txBody>
      </p:sp>
    </p:spTree>
    <p:extLst>
      <p:ext uri="{BB962C8B-B14F-4D97-AF65-F5344CB8AC3E}">
        <p14:creationId xmlns:p14="http://schemas.microsoft.com/office/powerpoint/2010/main" val="7326106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solidFill>
            <a:srgbClr val="FFFFFF"/>
          </a:solidFill>
          <a:ln/>
        </p:spPr>
        <p:txBody>
          <a:bodyPr>
            <a:normAutofit/>
          </a:bodyPr>
          <a:lstStyle/>
          <a:p>
            <a:r>
              <a:rPr lang="fr-FR" sz="3600" dirty="0"/>
              <a:t>Symptômes de base</a:t>
            </a:r>
          </a:p>
        </p:txBody>
      </p:sp>
      <p:sp>
        <p:nvSpPr>
          <p:cNvPr id="8195" name="Rectangle 3"/>
          <p:cNvSpPr>
            <a:spLocks noGrp="1" noChangeArrowheads="1"/>
          </p:cNvSpPr>
          <p:nvPr>
            <p:ph idx="1"/>
          </p:nvPr>
        </p:nvSpPr>
        <p:spPr>
          <a:noFill/>
          <a:ln/>
        </p:spPr>
        <p:txBody>
          <a:bodyPr>
            <a:normAutofit/>
          </a:bodyPr>
          <a:lstStyle/>
          <a:p>
            <a:pPr>
              <a:lnSpc>
                <a:spcPct val="90000"/>
              </a:lnSpc>
            </a:pPr>
            <a:r>
              <a:rPr lang="fr-FR" sz="2400" dirty="0"/>
              <a:t>Bizarreries perceptives: surtout visuelles, auditives, cénesthésiques et proprioceptives</a:t>
            </a:r>
          </a:p>
          <a:p>
            <a:pPr>
              <a:lnSpc>
                <a:spcPct val="90000"/>
              </a:lnSpc>
            </a:pPr>
            <a:r>
              <a:rPr lang="fr-FR" sz="2400" dirty="0"/>
              <a:t>Troubles de l</a:t>
            </a:r>
            <a:r>
              <a:rPr lang="ja-JP" altLang="fr-FR" sz="2400" dirty="0">
                <a:latin typeface="Arial"/>
              </a:rPr>
              <a:t>’</a:t>
            </a:r>
            <a:r>
              <a:rPr lang="fr-FR" sz="2400" dirty="0"/>
              <a:t>expérience motrice (perte des automatismes)</a:t>
            </a:r>
          </a:p>
          <a:p>
            <a:pPr>
              <a:lnSpc>
                <a:spcPct val="90000"/>
              </a:lnSpc>
            </a:pPr>
            <a:r>
              <a:rPr lang="fr-FR" sz="2400" dirty="0"/>
              <a:t>Troubles du sentiment de «présence» (dépersonnalisation, déréalisation, sentiment de «déjà vécu»)</a:t>
            </a:r>
          </a:p>
        </p:txBody>
      </p:sp>
    </p:spTree>
    <p:extLst>
      <p:ext uri="{BB962C8B-B14F-4D97-AF65-F5344CB8AC3E}">
        <p14:creationId xmlns:p14="http://schemas.microsoft.com/office/powerpoint/2010/main" val="33730551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899592" y="5373216"/>
            <a:ext cx="360040" cy="28803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2" name="Titre 1"/>
          <p:cNvSpPr>
            <a:spLocks noGrp="1"/>
          </p:cNvSpPr>
          <p:nvPr>
            <p:ph type="title"/>
          </p:nvPr>
        </p:nvSpPr>
        <p:spPr/>
        <p:txBody>
          <a:bodyPr>
            <a:normAutofit/>
          </a:bodyPr>
          <a:lstStyle/>
          <a:p>
            <a:r>
              <a:rPr lang="fr-FR" sz="3600" dirty="0"/>
              <a:t>Schizophrénie</a:t>
            </a:r>
          </a:p>
        </p:txBody>
      </p:sp>
      <p:sp>
        <p:nvSpPr>
          <p:cNvPr id="4" name="Espace réservé du contenu 3"/>
          <p:cNvSpPr>
            <a:spLocks noGrp="1"/>
          </p:cNvSpPr>
          <p:nvPr>
            <p:ph idx="1"/>
          </p:nvPr>
        </p:nvSpPr>
        <p:spPr/>
        <p:txBody>
          <a:bodyPr>
            <a:noAutofit/>
          </a:bodyPr>
          <a:lstStyle/>
          <a:p>
            <a:pPr marL="0" lvl="0" indent="0" fontAlgn="base">
              <a:spcBef>
                <a:spcPct val="0"/>
              </a:spcBef>
              <a:spcAft>
                <a:spcPct val="0"/>
              </a:spcAft>
              <a:buNone/>
            </a:pPr>
            <a:r>
              <a:rPr lang="fr-CH" sz="2000" dirty="0">
                <a:ea typeface="Calibri" pitchFamily="34" charset="0"/>
                <a:cs typeface="Times New Roman" pitchFamily="18" charset="0"/>
              </a:rPr>
              <a:t>Le père d’une jeune fille de 18 ans rapporte au médecin de famille son inquiétude à l’égard de sa fille, qui présente depuis 6 mois un changement de comportement alors qu’elle avait </a:t>
            </a:r>
            <a:r>
              <a:rPr lang="fr-CH" sz="2000" dirty="0" smtClean="0">
                <a:ea typeface="Calibri" pitchFamily="34" charset="0"/>
                <a:cs typeface="Times New Roman" pitchFamily="18" charset="0"/>
              </a:rPr>
              <a:t>mené </a:t>
            </a:r>
            <a:r>
              <a:rPr lang="fr-CH" sz="2000" dirty="0">
                <a:ea typeface="Calibri" pitchFamily="34" charset="0"/>
                <a:cs typeface="Times New Roman" pitchFamily="18" charset="0"/>
              </a:rPr>
              <a:t>sa scolarité et le début de son apprentissage sans problème. </a:t>
            </a:r>
            <a:r>
              <a:rPr lang="fr-CH" sz="2000" dirty="0" smtClean="0">
                <a:ea typeface="Calibri" pitchFamily="34" charset="0"/>
                <a:cs typeface="Times New Roman" pitchFamily="18" charset="0"/>
              </a:rPr>
              <a:t>Après </a:t>
            </a:r>
            <a:r>
              <a:rPr lang="fr-CH" sz="2000" dirty="0">
                <a:ea typeface="Calibri" pitchFamily="34" charset="0"/>
                <a:cs typeface="Times New Roman" pitchFamily="18" charset="0"/>
              </a:rPr>
              <a:t>être devenue plus renfermée, elle s’est progressivement coupée de son cercle d’amies. Souvent enfermée dans sa chambre, elle refuse de partager les repas avec le reste de la famille, se montre irritable et parle seule. Quand le père tente de lui parler de son état, elle se fâche, lui dit de ne pas se mêler de ses affaires à elle et qu’il ferait mieux de s’occuper des voisins qui la surveillent depuis quelques semaines.</a:t>
            </a:r>
            <a:r>
              <a:rPr lang="fr-CH" sz="2000" dirty="0"/>
              <a:t> </a:t>
            </a:r>
          </a:p>
          <a:p>
            <a:pPr marL="0" lvl="0" indent="0" fontAlgn="base">
              <a:spcBef>
                <a:spcPct val="0"/>
              </a:spcBef>
              <a:spcAft>
                <a:spcPct val="0"/>
              </a:spcAft>
              <a:buNone/>
            </a:pPr>
            <a:r>
              <a:rPr lang="fr-CH" sz="2000" dirty="0" smtClean="0">
                <a:ea typeface="Calibri" pitchFamily="34" charset="0"/>
                <a:cs typeface="Times New Roman" pitchFamily="18" charset="0"/>
              </a:rPr>
              <a:t>Quel </a:t>
            </a:r>
            <a:r>
              <a:rPr lang="fr-CH" sz="2000" dirty="0">
                <a:ea typeface="Calibri" pitchFamily="34" charset="0"/>
                <a:cs typeface="Times New Roman" pitchFamily="18" charset="0"/>
              </a:rPr>
              <a:t>est le diagnostic le plus probable </a:t>
            </a:r>
            <a:r>
              <a:rPr lang="fr-CH" sz="2000" dirty="0" smtClean="0">
                <a:ea typeface="Calibri" pitchFamily="34" charset="0"/>
                <a:cs typeface="Times New Roman" pitchFamily="18" charset="0"/>
              </a:rPr>
              <a:t>?</a:t>
            </a:r>
          </a:p>
          <a:p>
            <a:pPr marL="0" lvl="0" indent="0" fontAlgn="base">
              <a:spcBef>
                <a:spcPct val="0"/>
              </a:spcBef>
              <a:spcAft>
                <a:spcPct val="0"/>
              </a:spcAft>
              <a:buNone/>
            </a:pPr>
            <a:endParaRPr lang="fr-CH" sz="2000" dirty="0"/>
          </a:p>
          <a:p>
            <a:pPr marL="800100" lvl="1" indent="-342900" eaLnBrk="0" fontAlgn="base" hangingPunct="0">
              <a:spcBef>
                <a:spcPct val="0"/>
              </a:spcBef>
              <a:spcAft>
                <a:spcPct val="0"/>
              </a:spcAft>
              <a:buFont typeface="+mj-lt"/>
              <a:buAutoNum type="alphaUcPeriod"/>
            </a:pPr>
            <a:r>
              <a:rPr lang="fr-CH" sz="2000" dirty="0">
                <a:ea typeface="Calibri" pitchFamily="34" charset="0"/>
                <a:cs typeface="Times New Roman" pitchFamily="18" charset="0"/>
              </a:rPr>
              <a:t>Episode dépressif</a:t>
            </a:r>
            <a:endParaRPr lang="fr-CH" sz="2000" dirty="0"/>
          </a:p>
          <a:p>
            <a:pPr marL="800100" lvl="1" indent="-342900" eaLnBrk="0" fontAlgn="base" hangingPunct="0">
              <a:spcBef>
                <a:spcPct val="0"/>
              </a:spcBef>
              <a:spcAft>
                <a:spcPct val="0"/>
              </a:spcAft>
              <a:buFont typeface="+mj-lt"/>
              <a:buAutoNum type="alphaUcPeriod"/>
            </a:pPr>
            <a:r>
              <a:rPr lang="fr-CH" sz="2000" dirty="0">
                <a:ea typeface="Calibri" pitchFamily="34" charset="0"/>
                <a:cs typeface="Times New Roman" pitchFamily="18" charset="0"/>
              </a:rPr>
              <a:t>Psychose débutante</a:t>
            </a:r>
            <a:endParaRPr lang="fr-CH" sz="2000" dirty="0"/>
          </a:p>
          <a:p>
            <a:pPr marL="800100" lvl="1" indent="-342900" eaLnBrk="0" fontAlgn="base" hangingPunct="0">
              <a:spcBef>
                <a:spcPct val="0"/>
              </a:spcBef>
              <a:spcAft>
                <a:spcPct val="0"/>
              </a:spcAft>
              <a:buFont typeface="+mj-lt"/>
              <a:buAutoNum type="alphaUcPeriod"/>
            </a:pPr>
            <a:r>
              <a:rPr lang="fr-CH" sz="2000" dirty="0">
                <a:ea typeface="Calibri" pitchFamily="34" charset="0"/>
                <a:cs typeface="Times New Roman" pitchFamily="18" charset="0"/>
              </a:rPr>
              <a:t>Phobie sociale</a:t>
            </a:r>
            <a:endParaRPr lang="fr-CH" sz="2000" dirty="0"/>
          </a:p>
          <a:p>
            <a:pPr marL="800100" lvl="1" indent="-342900" eaLnBrk="0" fontAlgn="base" hangingPunct="0">
              <a:spcBef>
                <a:spcPct val="0"/>
              </a:spcBef>
              <a:spcAft>
                <a:spcPct val="0"/>
              </a:spcAft>
              <a:buFont typeface="+mj-lt"/>
              <a:buAutoNum type="alphaUcPeriod"/>
            </a:pPr>
            <a:r>
              <a:rPr lang="fr-CH" sz="2000" dirty="0">
                <a:ea typeface="Calibri" pitchFamily="34" charset="0"/>
                <a:cs typeface="Times New Roman" pitchFamily="18" charset="0"/>
              </a:rPr>
              <a:t>Episode maniaque</a:t>
            </a:r>
            <a:endParaRPr lang="fr-CH" sz="2000" dirty="0"/>
          </a:p>
          <a:p>
            <a:pPr marL="800100" lvl="1" indent="-342900" eaLnBrk="0" fontAlgn="base" hangingPunct="0">
              <a:spcBef>
                <a:spcPct val="0"/>
              </a:spcBef>
              <a:spcAft>
                <a:spcPct val="0"/>
              </a:spcAft>
              <a:buFont typeface="+mj-lt"/>
              <a:buAutoNum type="alphaUcPeriod"/>
            </a:pPr>
            <a:r>
              <a:rPr lang="fr-CH" sz="2000" dirty="0" smtClean="0">
                <a:ea typeface="Calibri" pitchFamily="34" charset="0"/>
                <a:cs typeface="Times New Roman" pitchFamily="18" charset="0"/>
              </a:rPr>
              <a:t>Anorexie						P. Conus</a:t>
            </a:r>
            <a:endParaRPr lang="fr-CH" sz="2000" dirty="0"/>
          </a:p>
          <a:p>
            <a:pPr marL="0" indent="0">
              <a:buNone/>
            </a:pPr>
            <a:endParaRPr lang="fr-FR"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899592" y="5229200"/>
            <a:ext cx="360040" cy="28803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5" name="Espace réservé du contenu 4"/>
          <p:cNvSpPr>
            <a:spLocks noGrp="1"/>
          </p:cNvSpPr>
          <p:nvPr>
            <p:ph idx="1"/>
          </p:nvPr>
        </p:nvSpPr>
        <p:spPr>
          <a:xfrm>
            <a:off x="467544" y="260648"/>
            <a:ext cx="8229600" cy="6408712"/>
          </a:xfrm>
        </p:spPr>
        <p:txBody>
          <a:bodyPr>
            <a:noAutofit/>
          </a:bodyPr>
          <a:lstStyle/>
          <a:p>
            <a:pPr marL="0" indent="0" algn="ctr">
              <a:buNone/>
            </a:pPr>
            <a:r>
              <a:rPr lang="fr-CH" sz="2000" b="1" dirty="0" smtClean="0"/>
              <a:t>Schizophrénie</a:t>
            </a:r>
          </a:p>
          <a:p>
            <a:pPr marL="0" indent="0">
              <a:buNone/>
            </a:pPr>
            <a:r>
              <a:rPr lang="fr-CH" sz="2000" dirty="0" smtClean="0"/>
              <a:t>Comme </a:t>
            </a:r>
            <a:r>
              <a:rPr lang="fr-CH" sz="2000" dirty="0"/>
              <a:t>médecin de premier recours, vous prenez l’anamnèse familiale d’une jeune femme de 20 ans qui vous consulte pour des sensations de tiraillement dans la tête et de décharges électriques qui sautent d’une partie du corps à l’autre. Elle évoque son grand-père paternel, âgé de 75 ans, et dit qu’il a fait dans sa vie plusieurs séjours en hôpital psychiatrique, dès l’âge de 25 ans, pour « une dépression </a:t>
            </a:r>
            <a:r>
              <a:rPr lang="fr-CH" sz="2000" dirty="0" smtClean="0"/>
              <a:t>», mais, </a:t>
            </a:r>
            <a:r>
              <a:rPr lang="fr-CH" sz="2000" dirty="0"/>
              <a:t>il n’a jamais été </a:t>
            </a:r>
            <a:r>
              <a:rPr lang="fr-CH" sz="2000" dirty="0" smtClean="0"/>
              <a:t>hospitalisé depuis </a:t>
            </a:r>
            <a:r>
              <a:rPr lang="fr-CH" sz="2000" dirty="0"/>
              <a:t>qu’elle est née</a:t>
            </a:r>
            <a:r>
              <a:rPr lang="fr-CH" sz="2000" dirty="0" smtClean="0"/>
              <a:t>. </a:t>
            </a:r>
            <a:r>
              <a:rPr lang="fr-CH" sz="2000" dirty="0"/>
              <a:t>Il prend depuis de nombreuses années, tous les jours, des médicaments pour ces difficultés; il est assez renfermé sur lui-même, parle parfois tout seul, a les mains qui tremblent souvent et une démarche un peu rigide. Il aime encore beaucoup s’occuper de son jardin. Vous suspectez </a:t>
            </a:r>
            <a:r>
              <a:rPr lang="fr-CH" sz="2000" b="1" dirty="0"/>
              <a:t>chez ce grand-père </a:t>
            </a:r>
            <a:r>
              <a:rPr lang="fr-CH" sz="2000" dirty="0"/>
              <a:t>une histoire de</a:t>
            </a:r>
            <a:r>
              <a:rPr lang="fr-CH" sz="2000" dirty="0" smtClean="0"/>
              <a:t>:</a:t>
            </a:r>
          </a:p>
          <a:p>
            <a:pPr marL="0" indent="0">
              <a:buNone/>
            </a:pPr>
            <a:endParaRPr lang="fr-CH" sz="2000" dirty="0"/>
          </a:p>
          <a:p>
            <a:pPr marL="800100" lvl="1" indent="-342900">
              <a:buFont typeface="+mj-lt"/>
              <a:buAutoNum type="alphaUcPeriod"/>
            </a:pPr>
            <a:r>
              <a:rPr lang="fr-CH" sz="2000" dirty="0"/>
              <a:t>trouble mélancolique délirant</a:t>
            </a:r>
          </a:p>
          <a:p>
            <a:pPr marL="800100" lvl="1" indent="-342900">
              <a:buFont typeface="+mj-lt"/>
              <a:buAutoNum type="alphaUcPeriod"/>
            </a:pPr>
            <a:r>
              <a:rPr lang="fr-CH" sz="2000" dirty="0"/>
              <a:t>démence </a:t>
            </a:r>
            <a:r>
              <a:rPr lang="fr-CH" sz="2000" dirty="0" smtClean="0"/>
              <a:t>alcoolique</a:t>
            </a:r>
            <a:endParaRPr lang="fr-CH" sz="2000" dirty="0"/>
          </a:p>
          <a:p>
            <a:pPr marL="800100" lvl="1" indent="-342900">
              <a:buFont typeface="+mj-lt"/>
              <a:buAutoNum type="alphaUcPeriod"/>
            </a:pPr>
            <a:r>
              <a:rPr lang="fr-CH" sz="2000" dirty="0" smtClean="0"/>
              <a:t>schizophrénie résiduelle</a:t>
            </a:r>
          </a:p>
          <a:p>
            <a:pPr marL="800100" lvl="1" indent="-342900">
              <a:buFont typeface="+mj-lt"/>
              <a:buAutoNum type="alphaUcPeriod"/>
            </a:pPr>
            <a:r>
              <a:rPr lang="fr-CH" sz="2000" dirty="0" smtClean="0"/>
              <a:t>maladie de Parkinson</a:t>
            </a:r>
          </a:p>
          <a:p>
            <a:pPr marL="800100" lvl="1" indent="-342900">
              <a:buFont typeface="+mj-lt"/>
              <a:buAutoNum type="alphaUcPeriod"/>
            </a:pPr>
            <a:r>
              <a:rPr lang="fr-CH" sz="2000" dirty="0" smtClean="0"/>
              <a:t>démence vasculaire</a:t>
            </a:r>
            <a:endParaRPr lang="fr-CH" sz="2000" dirty="0"/>
          </a:p>
          <a:p>
            <a:pPr marL="0" indent="0">
              <a:buNone/>
            </a:pPr>
            <a:r>
              <a:rPr lang="fr-CH" sz="2000" dirty="0" smtClean="0"/>
              <a:t>P. Bovet</a:t>
            </a:r>
            <a:endParaRPr lang="fr-CH" sz="2000" dirty="0"/>
          </a:p>
          <a:p>
            <a:pPr marL="0" indent="0">
              <a:buNone/>
            </a:pPr>
            <a:endParaRPr lang="fr-FR"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99592" y="3501008"/>
            <a:ext cx="360040" cy="28803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2" name="Titre 1"/>
          <p:cNvSpPr>
            <a:spLocks noGrp="1"/>
          </p:cNvSpPr>
          <p:nvPr>
            <p:ph type="title"/>
          </p:nvPr>
        </p:nvSpPr>
        <p:spPr/>
        <p:txBody>
          <a:bodyPr>
            <a:normAutofit/>
          </a:bodyPr>
          <a:lstStyle/>
          <a:p>
            <a:r>
              <a:rPr lang="fr-FR" sz="3600" dirty="0"/>
              <a:t>Schizophrénie</a:t>
            </a:r>
          </a:p>
        </p:txBody>
      </p:sp>
      <p:sp>
        <p:nvSpPr>
          <p:cNvPr id="4" name="Espace réservé du contenu 3"/>
          <p:cNvSpPr>
            <a:spLocks noGrp="1"/>
          </p:cNvSpPr>
          <p:nvPr>
            <p:ph idx="1"/>
          </p:nvPr>
        </p:nvSpPr>
        <p:spPr/>
        <p:txBody>
          <a:bodyPr>
            <a:normAutofit/>
          </a:bodyPr>
          <a:lstStyle/>
          <a:p>
            <a:pPr marL="0" lvl="0" indent="0" fontAlgn="base">
              <a:spcBef>
                <a:spcPct val="0"/>
              </a:spcBef>
              <a:spcAft>
                <a:spcPct val="0"/>
              </a:spcAft>
              <a:buNone/>
            </a:pPr>
            <a:r>
              <a:rPr lang="fr-CH" sz="2000" dirty="0">
                <a:ea typeface="Calibri" pitchFamily="34" charset="0"/>
                <a:cs typeface="Times New Roman" pitchFamily="18" charset="0"/>
              </a:rPr>
              <a:t>Parmi les affirmations suivantes, laquelle est </a:t>
            </a:r>
            <a:r>
              <a:rPr lang="fr-CH" sz="2000" b="1" dirty="0">
                <a:ea typeface="Calibri" pitchFamily="34" charset="0"/>
                <a:cs typeface="Times New Roman" pitchFamily="18" charset="0"/>
              </a:rPr>
              <a:t>la plus correcte </a:t>
            </a:r>
            <a:r>
              <a:rPr lang="fr-CH" sz="2000" dirty="0">
                <a:ea typeface="Calibri" pitchFamily="34" charset="0"/>
                <a:cs typeface="Times New Roman" pitchFamily="18" charset="0"/>
              </a:rPr>
              <a:t>concernant les antipsychotiques atypiques comparés aux neuroleptiques classiques ?</a:t>
            </a:r>
          </a:p>
          <a:p>
            <a:pPr marL="0" lvl="0" indent="0" fontAlgn="base">
              <a:spcBef>
                <a:spcPct val="0"/>
              </a:spcBef>
              <a:spcAft>
                <a:spcPct val="0"/>
              </a:spcAft>
              <a:buNone/>
            </a:pPr>
            <a:endParaRPr lang="fr-CH" sz="2000" dirty="0"/>
          </a:p>
          <a:p>
            <a:pPr marL="800100" lvl="1" indent="-342900" eaLnBrk="0" fontAlgn="base" hangingPunct="0">
              <a:spcBef>
                <a:spcPct val="0"/>
              </a:spcBef>
              <a:spcAft>
                <a:spcPct val="0"/>
              </a:spcAft>
              <a:buFont typeface="+mj-lt"/>
              <a:buAutoNum type="alphaUcPeriod"/>
            </a:pPr>
            <a:r>
              <a:rPr lang="fr-CH" sz="2000" dirty="0">
                <a:ea typeface="Calibri" pitchFamily="34" charset="0"/>
                <a:cs typeface="Times New Roman" pitchFamily="18" charset="0"/>
              </a:rPr>
              <a:t>Ils induisent moins de prise pondérale</a:t>
            </a:r>
            <a:endParaRPr lang="fr-CH" sz="2000" dirty="0"/>
          </a:p>
          <a:p>
            <a:pPr marL="800100" lvl="1" indent="-342900" eaLnBrk="0" fontAlgn="base" hangingPunct="0">
              <a:spcBef>
                <a:spcPct val="0"/>
              </a:spcBef>
              <a:spcAft>
                <a:spcPct val="0"/>
              </a:spcAft>
              <a:buFont typeface="+mj-lt"/>
              <a:buAutoNum type="alphaUcPeriod"/>
            </a:pPr>
            <a:r>
              <a:rPr lang="fr-CH" sz="2000" dirty="0">
                <a:ea typeface="Calibri" pitchFamily="34" charset="0"/>
                <a:cs typeface="Times New Roman" pitchFamily="18" charset="0"/>
              </a:rPr>
              <a:t>Ils sont plus efficaces sur les symptômes psychotiques positifs</a:t>
            </a:r>
            <a:endParaRPr lang="fr-CH" sz="2000" dirty="0"/>
          </a:p>
          <a:p>
            <a:pPr marL="800100" lvl="1" indent="-342900" eaLnBrk="0" fontAlgn="base" hangingPunct="0">
              <a:spcBef>
                <a:spcPct val="0"/>
              </a:spcBef>
              <a:spcAft>
                <a:spcPct val="0"/>
              </a:spcAft>
              <a:buFont typeface="+mj-lt"/>
              <a:buAutoNum type="alphaUcPeriod"/>
            </a:pPr>
            <a:r>
              <a:rPr lang="fr-CH" sz="2000" dirty="0">
                <a:ea typeface="Calibri" pitchFamily="34" charset="0"/>
                <a:cs typeface="Times New Roman" pitchFamily="18" charset="0"/>
              </a:rPr>
              <a:t>Ils sont plus efficaces sur les symptômes négatifs</a:t>
            </a:r>
            <a:endParaRPr lang="fr-CH" sz="2000" dirty="0"/>
          </a:p>
          <a:p>
            <a:pPr marL="800100" lvl="1" indent="-342900" eaLnBrk="0" fontAlgn="base" hangingPunct="0">
              <a:spcBef>
                <a:spcPct val="0"/>
              </a:spcBef>
              <a:spcAft>
                <a:spcPct val="0"/>
              </a:spcAft>
              <a:buFont typeface="+mj-lt"/>
              <a:buAutoNum type="alphaUcPeriod"/>
            </a:pPr>
            <a:r>
              <a:rPr lang="fr-CH" sz="2000" dirty="0">
                <a:ea typeface="Calibri" pitchFamily="34" charset="0"/>
                <a:cs typeface="Times New Roman" pitchFamily="18" charset="0"/>
              </a:rPr>
              <a:t>Ils ont moins d’effets secondaires extrapyramidaux</a:t>
            </a:r>
          </a:p>
          <a:p>
            <a:pPr marL="800100" lvl="1" indent="-342900" eaLnBrk="0" fontAlgn="base" hangingPunct="0">
              <a:spcBef>
                <a:spcPct val="0"/>
              </a:spcBef>
              <a:spcAft>
                <a:spcPct val="0"/>
              </a:spcAft>
              <a:buFont typeface="+mj-lt"/>
              <a:buAutoNum type="alphaUcPeriod"/>
            </a:pPr>
            <a:r>
              <a:rPr lang="fr-CH" sz="2000" dirty="0">
                <a:ea typeface="Calibri" pitchFamily="34" charset="0"/>
                <a:cs typeface="Times New Roman" pitchFamily="18" charset="0"/>
              </a:rPr>
              <a:t>Ils coûtent moins cher</a:t>
            </a:r>
            <a:r>
              <a:rPr lang="fr-CH" sz="2000" dirty="0"/>
              <a:t> </a:t>
            </a:r>
          </a:p>
          <a:p>
            <a:pPr marL="800100" lvl="1" indent="-342900" eaLnBrk="0" fontAlgn="base" hangingPunct="0">
              <a:spcBef>
                <a:spcPct val="0"/>
              </a:spcBef>
              <a:spcAft>
                <a:spcPct val="0"/>
              </a:spcAft>
            </a:pPr>
            <a:endParaRPr lang="fr-CH" sz="2000" dirty="0"/>
          </a:p>
          <a:p>
            <a:pPr marL="0" indent="0" eaLnBrk="0" fontAlgn="base" hangingPunct="0">
              <a:spcBef>
                <a:spcPct val="0"/>
              </a:spcBef>
              <a:spcAft>
                <a:spcPct val="0"/>
              </a:spcAft>
              <a:buNone/>
            </a:pPr>
            <a:endParaRPr lang="fr-CH" sz="2000" dirty="0" smtClean="0"/>
          </a:p>
          <a:p>
            <a:pPr marL="0" indent="0" eaLnBrk="0" fontAlgn="base" hangingPunct="0">
              <a:spcBef>
                <a:spcPct val="0"/>
              </a:spcBef>
              <a:spcAft>
                <a:spcPct val="0"/>
              </a:spcAft>
              <a:buNone/>
            </a:pPr>
            <a:endParaRPr lang="fr-CH" sz="2000" dirty="0"/>
          </a:p>
          <a:p>
            <a:pPr marL="0" indent="0" eaLnBrk="0" fontAlgn="base" hangingPunct="0">
              <a:spcBef>
                <a:spcPct val="0"/>
              </a:spcBef>
              <a:spcAft>
                <a:spcPct val="0"/>
              </a:spcAft>
              <a:buNone/>
            </a:pPr>
            <a:endParaRPr lang="fr-CH" sz="2000" dirty="0" smtClean="0"/>
          </a:p>
          <a:p>
            <a:pPr marL="0" indent="0" eaLnBrk="0" fontAlgn="base" hangingPunct="0">
              <a:spcBef>
                <a:spcPct val="0"/>
              </a:spcBef>
              <a:spcAft>
                <a:spcPct val="0"/>
              </a:spcAft>
              <a:buNone/>
            </a:pPr>
            <a:endParaRPr lang="fr-CH" sz="2000" dirty="0"/>
          </a:p>
          <a:p>
            <a:pPr marL="0" indent="0" eaLnBrk="0" fontAlgn="base" hangingPunct="0">
              <a:spcBef>
                <a:spcPct val="0"/>
              </a:spcBef>
              <a:spcAft>
                <a:spcPct val="0"/>
              </a:spcAft>
              <a:buNone/>
            </a:pPr>
            <a:r>
              <a:rPr lang="fr-CH" sz="2000" dirty="0" smtClean="0"/>
              <a:t>P. Conus</a:t>
            </a:r>
            <a:endParaRPr lang="fr-CH" sz="2000" dirty="0"/>
          </a:p>
          <a:p>
            <a:pPr marL="0" indent="0">
              <a:buNone/>
            </a:pPr>
            <a:endParaRPr lang="fr-FR"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899592" y="3789040"/>
            <a:ext cx="360040" cy="28803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2" name="Rectangle 1"/>
          <p:cNvSpPr>
            <a:spLocks noChangeArrowheads="1"/>
          </p:cNvSpPr>
          <p:nvPr/>
        </p:nvSpPr>
        <p:spPr bwMode="auto">
          <a:xfrm>
            <a:off x="971600" y="3294279"/>
            <a:ext cx="72008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fr-CH" b="0" i="0" u="none" strike="noStrike" cap="none" normalizeH="0" baseline="0" dirty="0" smtClean="0">
              <a:ln>
                <a:noFill/>
              </a:ln>
              <a:solidFill>
                <a:schemeClr val="tx1"/>
              </a:solidFill>
              <a:effectLst/>
            </a:endParaRPr>
          </a:p>
        </p:txBody>
      </p:sp>
      <p:sp>
        <p:nvSpPr>
          <p:cNvPr id="8" name="Titre 7"/>
          <p:cNvSpPr>
            <a:spLocks noGrp="1"/>
          </p:cNvSpPr>
          <p:nvPr>
            <p:ph type="title"/>
          </p:nvPr>
        </p:nvSpPr>
        <p:spPr/>
        <p:txBody>
          <a:bodyPr>
            <a:normAutofit/>
          </a:bodyPr>
          <a:lstStyle/>
          <a:p>
            <a:r>
              <a:rPr lang="fr-FR" sz="3600" dirty="0" smtClean="0"/>
              <a:t>Aspects légaux</a:t>
            </a:r>
            <a:endParaRPr lang="fr-FR" sz="3600" dirty="0"/>
          </a:p>
        </p:txBody>
      </p:sp>
      <p:sp>
        <p:nvSpPr>
          <p:cNvPr id="9" name="Espace réservé du contenu 8"/>
          <p:cNvSpPr>
            <a:spLocks noGrp="1"/>
          </p:cNvSpPr>
          <p:nvPr>
            <p:ph idx="1"/>
          </p:nvPr>
        </p:nvSpPr>
        <p:spPr/>
        <p:txBody>
          <a:bodyPr>
            <a:noAutofit/>
          </a:bodyPr>
          <a:lstStyle/>
          <a:p>
            <a:pPr marL="0" lvl="0" indent="0" fontAlgn="base">
              <a:spcBef>
                <a:spcPct val="0"/>
              </a:spcBef>
              <a:spcAft>
                <a:spcPct val="0"/>
              </a:spcAft>
              <a:buNone/>
            </a:pPr>
            <a:r>
              <a:rPr lang="fr-CH" sz="2000" dirty="0">
                <a:solidFill>
                  <a:srgbClr val="000000"/>
                </a:solidFill>
                <a:ea typeface="Calibri" pitchFamily="34" charset="0"/>
                <a:cs typeface="ArialMT"/>
              </a:rPr>
              <a:t>Un patient est trouvé dans la rue en état d’agitation important. Il tient des propos délirants et se montre menaçant à l’égard des patients. Qui </a:t>
            </a:r>
            <a:r>
              <a:rPr lang="fr-CH" sz="2000" dirty="0" smtClean="0">
                <a:solidFill>
                  <a:srgbClr val="000000"/>
                </a:solidFill>
                <a:ea typeface="Calibri" pitchFamily="34" charset="0"/>
                <a:cs typeface="ArialMT"/>
              </a:rPr>
              <a:t>pourrait ordonner </a:t>
            </a:r>
            <a:r>
              <a:rPr lang="fr-CH" sz="2000" dirty="0">
                <a:solidFill>
                  <a:srgbClr val="000000"/>
                </a:solidFill>
                <a:ea typeface="Calibri" pitchFamily="34" charset="0"/>
                <a:cs typeface="ArialMT"/>
              </a:rPr>
              <a:t>son admission en hôpital psychiatrique?</a:t>
            </a:r>
          </a:p>
          <a:p>
            <a:pPr marL="0" lvl="0" indent="0" fontAlgn="base">
              <a:spcBef>
                <a:spcPct val="0"/>
              </a:spcBef>
              <a:spcAft>
                <a:spcPct val="0"/>
              </a:spcAft>
              <a:buNone/>
            </a:pPr>
            <a:endParaRPr lang="fr-CH" sz="2000" dirty="0"/>
          </a:p>
          <a:p>
            <a:pPr marL="800100" lvl="1" indent="-342900" eaLnBrk="0" fontAlgn="base" hangingPunct="0">
              <a:spcBef>
                <a:spcPct val="0"/>
              </a:spcBef>
              <a:spcAft>
                <a:spcPct val="0"/>
              </a:spcAft>
              <a:buFont typeface="+mj-lt"/>
              <a:buAutoNum type="alphaUcPeriod"/>
            </a:pPr>
            <a:r>
              <a:rPr lang="fr-CH" sz="2000" dirty="0">
                <a:solidFill>
                  <a:srgbClr val="000000"/>
                </a:solidFill>
                <a:ea typeface="Calibri" pitchFamily="34" charset="0"/>
                <a:cs typeface="ArialMT"/>
              </a:rPr>
              <a:t>Le curateur du patient</a:t>
            </a:r>
            <a:endParaRPr lang="fr-CH" sz="2000" dirty="0"/>
          </a:p>
          <a:p>
            <a:pPr marL="800100" lvl="1" indent="-342900" eaLnBrk="0" fontAlgn="base" hangingPunct="0">
              <a:spcBef>
                <a:spcPct val="0"/>
              </a:spcBef>
              <a:spcAft>
                <a:spcPct val="0"/>
              </a:spcAft>
              <a:buFont typeface="+mj-lt"/>
              <a:buAutoNum type="alphaUcPeriod"/>
            </a:pPr>
            <a:r>
              <a:rPr lang="fr-CH" sz="2000" dirty="0">
                <a:solidFill>
                  <a:srgbClr val="000000"/>
                </a:solidFill>
                <a:ea typeface="Calibri" pitchFamily="34" charset="0"/>
                <a:cs typeface="ArialMT"/>
              </a:rPr>
              <a:t>Les proches de la personne</a:t>
            </a:r>
            <a:endParaRPr lang="fr-CH" sz="2000" dirty="0"/>
          </a:p>
          <a:p>
            <a:pPr marL="800100" lvl="1" indent="-342900" eaLnBrk="0" fontAlgn="base" hangingPunct="0">
              <a:spcBef>
                <a:spcPct val="0"/>
              </a:spcBef>
              <a:spcAft>
                <a:spcPct val="0"/>
              </a:spcAft>
              <a:buFont typeface="+mj-lt"/>
              <a:buAutoNum type="alphaUcPeriod"/>
            </a:pPr>
            <a:r>
              <a:rPr lang="fr-CH" sz="2000" dirty="0">
                <a:solidFill>
                  <a:srgbClr val="000000"/>
                </a:solidFill>
                <a:ea typeface="Calibri" pitchFamily="34" charset="0"/>
                <a:cs typeface="ArialMT"/>
              </a:rPr>
              <a:t>Le représentant thérapeutique</a:t>
            </a:r>
            <a:endParaRPr lang="fr-CH" sz="2000" dirty="0"/>
          </a:p>
          <a:p>
            <a:pPr marL="800100" lvl="1" indent="-342900" eaLnBrk="0" fontAlgn="base" hangingPunct="0">
              <a:spcBef>
                <a:spcPct val="0"/>
              </a:spcBef>
              <a:spcAft>
                <a:spcPct val="0"/>
              </a:spcAft>
              <a:buFont typeface="+mj-lt"/>
              <a:buAutoNum type="alphaUcPeriod"/>
            </a:pPr>
            <a:r>
              <a:rPr lang="fr-CH" sz="2000" dirty="0">
                <a:solidFill>
                  <a:srgbClr val="000000"/>
                </a:solidFill>
                <a:ea typeface="Calibri" pitchFamily="34" charset="0"/>
                <a:cs typeface="ArialMT"/>
              </a:rPr>
              <a:t>Son médecin généraliste</a:t>
            </a:r>
          </a:p>
          <a:p>
            <a:pPr marL="800100" lvl="1" indent="-342900" eaLnBrk="0" fontAlgn="base" hangingPunct="0">
              <a:spcBef>
                <a:spcPct val="0"/>
              </a:spcBef>
              <a:spcAft>
                <a:spcPct val="0"/>
              </a:spcAft>
              <a:buFont typeface="+mj-lt"/>
              <a:buAutoNum type="alphaUcPeriod"/>
            </a:pPr>
            <a:r>
              <a:rPr lang="fr-CH" sz="2000" dirty="0">
                <a:solidFill>
                  <a:srgbClr val="000000"/>
                </a:solidFill>
                <a:ea typeface="Calibri" pitchFamily="34" charset="0"/>
                <a:cs typeface="ArialMT"/>
              </a:rPr>
              <a:t>Son orthopédiste</a:t>
            </a:r>
          </a:p>
          <a:p>
            <a:pPr marL="0" lvl="0" indent="0" eaLnBrk="0" fontAlgn="base" hangingPunct="0">
              <a:spcBef>
                <a:spcPct val="0"/>
              </a:spcBef>
              <a:spcAft>
                <a:spcPct val="0"/>
              </a:spcAft>
              <a:buNone/>
            </a:pPr>
            <a:endParaRPr lang="fr-CH" sz="2000" dirty="0">
              <a:solidFill>
                <a:srgbClr val="000000"/>
              </a:solidFill>
            </a:endParaRPr>
          </a:p>
          <a:p>
            <a:pPr marL="0" lvl="0" indent="0" eaLnBrk="0" fontAlgn="base" hangingPunct="0">
              <a:spcBef>
                <a:spcPct val="0"/>
              </a:spcBef>
              <a:spcAft>
                <a:spcPct val="0"/>
              </a:spcAft>
              <a:buNone/>
            </a:pPr>
            <a:endParaRPr lang="fr-CH" sz="2000" dirty="0" smtClean="0">
              <a:solidFill>
                <a:srgbClr val="000000"/>
              </a:solidFill>
            </a:endParaRPr>
          </a:p>
          <a:p>
            <a:pPr marL="0" lvl="0" indent="0" eaLnBrk="0" fontAlgn="base" hangingPunct="0">
              <a:spcBef>
                <a:spcPct val="0"/>
              </a:spcBef>
              <a:spcAft>
                <a:spcPct val="0"/>
              </a:spcAft>
              <a:buNone/>
            </a:pPr>
            <a:endParaRPr lang="fr-CH" sz="2000" dirty="0">
              <a:solidFill>
                <a:srgbClr val="000000"/>
              </a:solidFill>
            </a:endParaRPr>
          </a:p>
          <a:p>
            <a:pPr marL="0" lvl="0" indent="0" eaLnBrk="0" fontAlgn="base" hangingPunct="0">
              <a:spcBef>
                <a:spcPct val="0"/>
              </a:spcBef>
              <a:spcAft>
                <a:spcPct val="0"/>
              </a:spcAft>
              <a:buNone/>
            </a:pPr>
            <a:endParaRPr lang="fr-CH" sz="2000" dirty="0" smtClean="0">
              <a:solidFill>
                <a:srgbClr val="000000"/>
              </a:solidFill>
            </a:endParaRPr>
          </a:p>
          <a:p>
            <a:pPr marL="0" lvl="0" indent="0" eaLnBrk="0" fontAlgn="base" hangingPunct="0">
              <a:spcBef>
                <a:spcPct val="0"/>
              </a:spcBef>
              <a:spcAft>
                <a:spcPct val="0"/>
              </a:spcAft>
              <a:buNone/>
            </a:pPr>
            <a:r>
              <a:rPr lang="fr-CH" sz="2000" dirty="0" smtClean="0">
                <a:solidFill>
                  <a:srgbClr val="000000"/>
                </a:solidFill>
              </a:rPr>
              <a:t>P. Conus</a:t>
            </a:r>
            <a:endParaRPr lang="fr-CH" sz="2000" dirty="0">
              <a:solidFill>
                <a:srgbClr val="000000"/>
              </a:solidFill>
            </a:endParaRPr>
          </a:p>
          <a:p>
            <a:pPr marL="0" indent="0">
              <a:buNone/>
            </a:pPr>
            <a:endParaRPr lang="fr-FR"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3600" dirty="0" smtClean="0"/>
              <a:t>PLAFA</a:t>
            </a:r>
            <a:endParaRPr lang="fr-FR" sz="3600" dirty="0"/>
          </a:p>
        </p:txBody>
      </p:sp>
      <p:sp>
        <p:nvSpPr>
          <p:cNvPr id="4" name="Espace réservé du contenu 3"/>
          <p:cNvSpPr>
            <a:spLocks noGrp="1"/>
          </p:cNvSpPr>
          <p:nvPr>
            <p:ph idx="1"/>
          </p:nvPr>
        </p:nvSpPr>
        <p:spPr/>
        <p:txBody>
          <a:bodyPr>
            <a:noAutofit/>
          </a:bodyPr>
          <a:lstStyle/>
          <a:p>
            <a:pPr marL="0" lvl="0" indent="0" fontAlgn="base">
              <a:spcBef>
                <a:spcPct val="0"/>
              </a:spcBef>
              <a:spcAft>
                <a:spcPct val="0"/>
              </a:spcAft>
              <a:buNone/>
            </a:pPr>
            <a:r>
              <a:rPr lang="fr-CH" sz="2000" b="1" dirty="0" smtClean="0">
                <a:solidFill>
                  <a:srgbClr val="000000"/>
                </a:solidFill>
              </a:rPr>
              <a:t>Médecins autorisés à ordonner une mesure de PLAFA médical:</a:t>
            </a:r>
            <a:endParaRPr lang="fr-CH" sz="2000" b="1" dirty="0">
              <a:solidFill>
                <a:srgbClr val="000000"/>
              </a:solidFill>
            </a:endParaRPr>
          </a:p>
          <a:p>
            <a:pPr fontAlgn="base">
              <a:spcBef>
                <a:spcPct val="0"/>
              </a:spcBef>
              <a:spcAft>
                <a:spcPct val="0"/>
              </a:spcAft>
            </a:pPr>
            <a:r>
              <a:rPr lang="fr-CH" sz="2000" dirty="0">
                <a:solidFill>
                  <a:srgbClr val="000000"/>
                </a:solidFill>
              </a:rPr>
              <a:t>Médecin de premier recours</a:t>
            </a:r>
          </a:p>
          <a:p>
            <a:pPr lvl="1" fontAlgn="base">
              <a:spcBef>
                <a:spcPct val="0"/>
              </a:spcBef>
              <a:spcAft>
                <a:spcPct val="0"/>
              </a:spcAft>
            </a:pPr>
            <a:r>
              <a:rPr lang="fr-CH" sz="1600" dirty="0" smtClean="0">
                <a:solidFill>
                  <a:srgbClr val="000000"/>
                </a:solidFill>
              </a:rPr>
              <a:t> Généraliste </a:t>
            </a:r>
            <a:r>
              <a:rPr lang="fr-CH" sz="1600" dirty="0">
                <a:solidFill>
                  <a:srgbClr val="000000"/>
                </a:solidFill>
              </a:rPr>
              <a:t>interniste</a:t>
            </a:r>
          </a:p>
          <a:p>
            <a:pPr lvl="1" fontAlgn="base">
              <a:spcBef>
                <a:spcPct val="0"/>
              </a:spcBef>
              <a:spcAft>
                <a:spcPct val="0"/>
              </a:spcAft>
            </a:pPr>
            <a:r>
              <a:rPr lang="fr-CH" sz="1600" dirty="0">
                <a:solidFill>
                  <a:srgbClr val="000000"/>
                </a:solidFill>
              </a:rPr>
              <a:t> Pédiatre</a:t>
            </a:r>
          </a:p>
          <a:p>
            <a:pPr lvl="1" fontAlgn="base">
              <a:spcBef>
                <a:spcPct val="0"/>
              </a:spcBef>
              <a:spcAft>
                <a:spcPct val="0"/>
              </a:spcAft>
            </a:pPr>
            <a:r>
              <a:rPr lang="fr-CH" sz="1600" dirty="0">
                <a:solidFill>
                  <a:srgbClr val="000000"/>
                </a:solidFill>
              </a:rPr>
              <a:t> Médecin des </a:t>
            </a:r>
            <a:r>
              <a:rPr lang="fr-CH" sz="1600" dirty="0" smtClean="0">
                <a:solidFill>
                  <a:srgbClr val="000000"/>
                </a:solidFill>
              </a:rPr>
              <a:t>urgences</a:t>
            </a:r>
            <a:endParaRPr lang="fr-CH" sz="1600" dirty="0">
              <a:solidFill>
                <a:srgbClr val="000000"/>
              </a:solidFill>
            </a:endParaRPr>
          </a:p>
          <a:p>
            <a:pPr fontAlgn="base">
              <a:spcBef>
                <a:spcPct val="0"/>
              </a:spcBef>
              <a:spcAft>
                <a:spcPct val="0"/>
              </a:spcAft>
            </a:pPr>
            <a:r>
              <a:rPr lang="fr-CH" sz="2000" dirty="0" smtClean="0">
                <a:solidFill>
                  <a:srgbClr val="000000"/>
                </a:solidFill>
              </a:rPr>
              <a:t>Psychiatre</a:t>
            </a:r>
            <a:endParaRPr lang="fr-CH" sz="2000" dirty="0">
              <a:solidFill>
                <a:srgbClr val="000000"/>
              </a:solidFill>
            </a:endParaRPr>
          </a:p>
          <a:p>
            <a:pPr fontAlgn="base">
              <a:spcBef>
                <a:spcPct val="0"/>
              </a:spcBef>
              <a:spcAft>
                <a:spcPct val="0"/>
              </a:spcAft>
            </a:pPr>
            <a:r>
              <a:rPr lang="fr-CH" sz="2000" dirty="0" smtClean="0">
                <a:solidFill>
                  <a:srgbClr val="000000"/>
                </a:solidFill>
              </a:rPr>
              <a:t>Médecin </a:t>
            </a:r>
            <a:r>
              <a:rPr lang="fr-CH" sz="2000" dirty="0">
                <a:solidFill>
                  <a:srgbClr val="000000"/>
                </a:solidFill>
              </a:rPr>
              <a:t>délégué (par la Justice de Paix</a:t>
            </a:r>
            <a:r>
              <a:rPr lang="fr-CH" sz="2000" dirty="0" smtClean="0">
                <a:solidFill>
                  <a:srgbClr val="000000"/>
                </a:solidFill>
              </a:rPr>
              <a:t>)</a:t>
            </a:r>
          </a:p>
          <a:p>
            <a:pPr fontAlgn="base">
              <a:spcBef>
                <a:spcPct val="0"/>
              </a:spcBef>
              <a:spcAft>
                <a:spcPct val="0"/>
              </a:spcAft>
            </a:pPr>
            <a:endParaRPr lang="fr-CH" sz="2000" b="1" dirty="0">
              <a:solidFill>
                <a:srgbClr val="000000"/>
              </a:solidFill>
            </a:endParaRPr>
          </a:p>
          <a:p>
            <a:pPr marL="0" lvl="0" indent="0" fontAlgn="base">
              <a:spcBef>
                <a:spcPct val="0"/>
              </a:spcBef>
              <a:spcAft>
                <a:spcPct val="0"/>
              </a:spcAft>
              <a:buNone/>
            </a:pPr>
            <a:r>
              <a:rPr lang="fr-CH" sz="2000" b="1" dirty="0" smtClean="0">
                <a:solidFill>
                  <a:srgbClr val="000000"/>
                </a:solidFill>
              </a:rPr>
              <a:t>Personnes autorisées </a:t>
            </a:r>
            <a:r>
              <a:rPr lang="fr-CH" sz="2000" b="1" dirty="0">
                <a:solidFill>
                  <a:srgbClr val="000000"/>
                </a:solidFill>
              </a:rPr>
              <a:t>à</a:t>
            </a:r>
            <a:r>
              <a:rPr lang="fr-CH" sz="2000" b="1" dirty="0" smtClean="0">
                <a:solidFill>
                  <a:srgbClr val="000000"/>
                </a:solidFill>
              </a:rPr>
              <a:t> prononcer une mesure de PLAFA judiciaire (ou civile):</a:t>
            </a:r>
            <a:endParaRPr lang="fr-CH" sz="2000" dirty="0">
              <a:solidFill>
                <a:srgbClr val="000000"/>
              </a:solidFill>
            </a:endParaRPr>
          </a:p>
          <a:p>
            <a:pPr fontAlgn="base">
              <a:spcBef>
                <a:spcPct val="0"/>
              </a:spcBef>
              <a:spcAft>
                <a:spcPct val="0"/>
              </a:spcAft>
            </a:pPr>
            <a:r>
              <a:rPr lang="fr-CH" sz="2000" dirty="0">
                <a:solidFill>
                  <a:srgbClr val="000000"/>
                </a:solidFill>
              </a:rPr>
              <a:t>Juge de paix</a:t>
            </a:r>
            <a:endParaRPr lang="fr-CH" sz="2000" dirty="0"/>
          </a:p>
          <a:p>
            <a:pPr marL="0" indent="0">
              <a:buNone/>
            </a:pPr>
            <a:endParaRPr lang="fr-FR" sz="20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99592" y="3212976"/>
            <a:ext cx="360040" cy="28803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2" name="Titre 1"/>
          <p:cNvSpPr>
            <a:spLocks noGrp="1"/>
          </p:cNvSpPr>
          <p:nvPr>
            <p:ph type="title"/>
          </p:nvPr>
        </p:nvSpPr>
        <p:spPr/>
        <p:txBody>
          <a:bodyPr>
            <a:normAutofit/>
          </a:bodyPr>
          <a:lstStyle/>
          <a:p>
            <a:r>
              <a:rPr lang="fr-FR" sz="3600" dirty="0"/>
              <a:t>Aspects légaux</a:t>
            </a:r>
          </a:p>
        </p:txBody>
      </p:sp>
      <p:sp>
        <p:nvSpPr>
          <p:cNvPr id="4" name="Espace réservé du contenu 3"/>
          <p:cNvSpPr>
            <a:spLocks noGrp="1"/>
          </p:cNvSpPr>
          <p:nvPr>
            <p:ph idx="1"/>
          </p:nvPr>
        </p:nvSpPr>
        <p:spPr/>
        <p:txBody>
          <a:bodyPr>
            <a:normAutofit/>
          </a:bodyPr>
          <a:lstStyle/>
          <a:p>
            <a:pPr marL="0" lvl="0" indent="0" fontAlgn="base">
              <a:spcBef>
                <a:spcPct val="0"/>
              </a:spcBef>
              <a:spcAft>
                <a:spcPct val="0"/>
              </a:spcAft>
              <a:buNone/>
            </a:pPr>
            <a:r>
              <a:rPr lang="fr-CH" sz="2000" dirty="0">
                <a:solidFill>
                  <a:srgbClr val="000000"/>
                </a:solidFill>
                <a:ea typeface="Calibri" pitchFamily="34" charset="0"/>
                <a:cs typeface="ArialMT"/>
              </a:rPr>
              <a:t>Qui, dans le domaine des soins, peut représenter légalement une personne incapable de discernement?</a:t>
            </a:r>
          </a:p>
          <a:p>
            <a:pPr marL="0" lvl="0" indent="0" fontAlgn="base">
              <a:spcBef>
                <a:spcPct val="0"/>
              </a:spcBef>
              <a:spcAft>
                <a:spcPct val="0"/>
              </a:spcAft>
              <a:buNone/>
            </a:pPr>
            <a:endParaRPr lang="fr-CH" sz="2000" dirty="0"/>
          </a:p>
          <a:p>
            <a:pPr marL="800100" lvl="1" indent="-342900" eaLnBrk="0" fontAlgn="base" hangingPunct="0">
              <a:spcBef>
                <a:spcPct val="0"/>
              </a:spcBef>
              <a:spcAft>
                <a:spcPct val="0"/>
              </a:spcAft>
              <a:buFont typeface="+mj-lt"/>
              <a:buAutoNum type="alphaUcPeriod"/>
            </a:pPr>
            <a:r>
              <a:rPr lang="fr-CH" sz="2000" dirty="0">
                <a:solidFill>
                  <a:srgbClr val="000000"/>
                </a:solidFill>
                <a:ea typeface="Calibri" pitchFamily="34" charset="0"/>
                <a:cs typeface="ArialMT"/>
              </a:rPr>
              <a:t>Le médecin traitant</a:t>
            </a:r>
            <a:endParaRPr lang="fr-CH" sz="2000" dirty="0"/>
          </a:p>
          <a:p>
            <a:pPr marL="800100" lvl="1" indent="-342900" eaLnBrk="0" fontAlgn="base" hangingPunct="0">
              <a:spcBef>
                <a:spcPct val="0"/>
              </a:spcBef>
              <a:spcAft>
                <a:spcPct val="0"/>
              </a:spcAft>
              <a:buFont typeface="+mj-lt"/>
              <a:buAutoNum type="alphaUcPeriod"/>
            </a:pPr>
            <a:r>
              <a:rPr lang="fr-CH" sz="2000" dirty="0">
                <a:solidFill>
                  <a:srgbClr val="000000"/>
                </a:solidFill>
                <a:ea typeface="Calibri" pitchFamily="34" charset="0"/>
                <a:cs typeface="ArialMT"/>
              </a:rPr>
              <a:t>Le voisin de la personne</a:t>
            </a:r>
            <a:endParaRPr lang="fr-CH" sz="2000" dirty="0"/>
          </a:p>
          <a:p>
            <a:pPr marL="800100" lvl="1" indent="-342900" eaLnBrk="0" fontAlgn="base" hangingPunct="0">
              <a:spcBef>
                <a:spcPct val="0"/>
              </a:spcBef>
              <a:spcAft>
                <a:spcPct val="0"/>
              </a:spcAft>
              <a:buFont typeface="+mj-lt"/>
              <a:buAutoNum type="alphaUcPeriod"/>
            </a:pPr>
            <a:r>
              <a:rPr lang="fr-CH" sz="2000" dirty="0">
                <a:solidFill>
                  <a:srgbClr val="000000"/>
                </a:solidFill>
                <a:ea typeface="Calibri" pitchFamily="34" charset="0"/>
                <a:cs typeface="ArialMT"/>
              </a:rPr>
              <a:t>Le représentant thérapeutique</a:t>
            </a:r>
            <a:endParaRPr lang="fr-CH" sz="2000" dirty="0"/>
          </a:p>
          <a:p>
            <a:pPr marL="800100" lvl="1" indent="-342900" eaLnBrk="0" fontAlgn="base" hangingPunct="0">
              <a:spcBef>
                <a:spcPct val="0"/>
              </a:spcBef>
              <a:spcAft>
                <a:spcPct val="0"/>
              </a:spcAft>
              <a:buFont typeface="+mj-lt"/>
              <a:buAutoNum type="alphaUcPeriod"/>
            </a:pPr>
            <a:r>
              <a:rPr lang="fr-CH" sz="2000" dirty="0">
                <a:solidFill>
                  <a:srgbClr val="000000"/>
                </a:solidFill>
                <a:ea typeface="Calibri" pitchFamily="34" charset="0"/>
                <a:cs typeface="ArialMT"/>
              </a:rPr>
              <a:t>Le conseiller accompagnant</a:t>
            </a:r>
          </a:p>
          <a:p>
            <a:pPr marL="800100" lvl="1" indent="-342900" eaLnBrk="0" fontAlgn="base" hangingPunct="0">
              <a:spcBef>
                <a:spcPct val="0"/>
              </a:spcBef>
              <a:spcAft>
                <a:spcPct val="0"/>
              </a:spcAft>
              <a:buFont typeface="+mj-lt"/>
              <a:buAutoNum type="alphaUcPeriod"/>
            </a:pPr>
            <a:r>
              <a:rPr lang="fr-CH" sz="2000" dirty="0">
                <a:solidFill>
                  <a:srgbClr val="000000"/>
                </a:solidFill>
                <a:ea typeface="Calibri" pitchFamily="34" charset="0"/>
                <a:cs typeface="ArialMT"/>
              </a:rPr>
              <a:t>Les soignants</a:t>
            </a:r>
          </a:p>
          <a:p>
            <a:pPr marL="0" lvl="0" indent="0" eaLnBrk="0" fontAlgn="base" hangingPunct="0">
              <a:spcBef>
                <a:spcPct val="0"/>
              </a:spcBef>
              <a:spcAft>
                <a:spcPct val="0"/>
              </a:spcAft>
              <a:buNone/>
            </a:pPr>
            <a:endParaRPr lang="fr-CH" sz="2000" dirty="0">
              <a:solidFill>
                <a:srgbClr val="000000"/>
              </a:solidFill>
            </a:endParaRPr>
          </a:p>
          <a:p>
            <a:pPr marL="0" lvl="0" indent="0" eaLnBrk="0" fontAlgn="base" hangingPunct="0">
              <a:spcBef>
                <a:spcPct val="0"/>
              </a:spcBef>
              <a:spcAft>
                <a:spcPct val="0"/>
              </a:spcAft>
              <a:buNone/>
            </a:pPr>
            <a:endParaRPr lang="fr-CH" sz="2000" dirty="0" smtClean="0">
              <a:solidFill>
                <a:srgbClr val="000000"/>
              </a:solidFill>
            </a:endParaRPr>
          </a:p>
          <a:p>
            <a:pPr marL="0" lvl="0" indent="0" eaLnBrk="0" fontAlgn="base" hangingPunct="0">
              <a:spcBef>
                <a:spcPct val="0"/>
              </a:spcBef>
              <a:spcAft>
                <a:spcPct val="0"/>
              </a:spcAft>
              <a:buNone/>
            </a:pPr>
            <a:endParaRPr lang="fr-CH" sz="2000" dirty="0">
              <a:solidFill>
                <a:srgbClr val="000000"/>
              </a:solidFill>
            </a:endParaRPr>
          </a:p>
          <a:p>
            <a:pPr marL="0" lvl="0" indent="0" eaLnBrk="0" fontAlgn="base" hangingPunct="0">
              <a:spcBef>
                <a:spcPct val="0"/>
              </a:spcBef>
              <a:spcAft>
                <a:spcPct val="0"/>
              </a:spcAft>
              <a:buNone/>
            </a:pPr>
            <a:endParaRPr lang="fr-CH" sz="2000" dirty="0" smtClean="0">
              <a:solidFill>
                <a:srgbClr val="000000"/>
              </a:solidFill>
            </a:endParaRPr>
          </a:p>
          <a:p>
            <a:pPr marL="0" lvl="0" indent="0" eaLnBrk="0" fontAlgn="base" hangingPunct="0">
              <a:spcBef>
                <a:spcPct val="0"/>
              </a:spcBef>
              <a:spcAft>
                <a:spcPct val="0"/>
              </a:spcAft>
              <a:buNone/>
            </a:pPr>
            <a:endParaRPr lang="fr-CH" sz="2000" dirty="0">
              <a:solidFill>
                <a:srgbClr val="000000"/>
              </a:solidFill>
            </a:endParaRPr>
          </a:p>
          <a:p>
            <a:pPr marL="0" lvl="0" indent="0" eaLnBrk="0" fontAlgn="base" hangingPunct="0">
              <a:spcBef>
                <a:spcPct val="0"/>
              </a:spcBef>
              <a:spcAft>
                <a:spcPct val="0"/>
              </a:spcAft>
              <a:buNone/>
            </a:pPr>
            <a:r>
              <a:rPr lang="fr-CH" sz="2000" dirty="0" smtClean="0">
                <a:solidFill>
                  <a:srgbClr val="000000"/>
                </a:solidFill>
              </a:rPr>
              <a:t>J. Gasser</a:t>
            </a:r>
            <a:r>
              <a:rPr lang="fr-CH" sz="2000" dirty="0" smtClean="0"/>
              <a:t> </a:t>
            </a:r>
            <a:endParaRPr lang="fr-CH" sz="2000" dirty="0"/>
          </a:p>
          <a:p>
            <a:pPr marL="0" indent="0">
              <a:buNone/>
            </a:pPr>
            <a:endParaRPr lang="fr-FR"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27584" y="3789040"/>
            <a:ext cx="504056" cy="36004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5" name="Titre 4"/>
          <p:cNvSpPr>
            <a:spLocks noGrp="1"/>
          </p:cNvSpPr>
          <p:nvPr>
            <p:ph type="title"/>
          </p:nvPr>
        </p:nvSpPr>
        <p:spPr/>
        <p:txBody>
          <a:bodyPr>
            <a:normAutofit/>
          </a:bodyPr>
          <a:lstStyle/>
          <a:p>
            <a:r>
              <a:rPr lang="fr-FR" sz="3600" dirty="0"/>
              <a:t>Aspects légaux</a:t>
            </a:r>
          </a:p>
        </p:txBody>
      </p:sp>
      <p:sp>
        <p:nvSpPr>
          <p:cNvPr id="4" name="Espace réservé du contenu 3"/>
          <p:cNvSpPr>
            <a:spLocks noGrp="1"/>
          </p:cNvSpPr>
          <p:nvPr>
            <p:ph idx="1"/>
          </p:nvPr>
        </p:nvSpPr>
        <p:spPr/>
        <p:txBody>
          <a:bodyPr>
            <a:noAutofit/>
          </a:bodyPr>
          <a:lstStyle/>
          <a:p>
            <a:pPr marL="0" lvl="0" indent="0" fontAlgn="base">
              <a:spcBef>
                <a:spcPct val="0"/>
              </a:spcBef>
              <a:spcAft>
                <a:spcPct val="0"/>
              </a:spcAft>
              <a:buNone/>
            </a:pPr>
            <a:r>
              <a:rPr lang="fr-CH" sz="2000" dirty="0">
                <a:ea typeface="Calibri" pitchFamily="34" charset="0"/>
                <a:cs typeface="ArialMT"/>
              </a:rPr>
              <a:t>Parmi les affirmations ci-dessous concernant les droits des patients en Suisse, laquelle est </a:t>
            </a:r>
            <a:r>
              <a:rPr lang="fr-CH" sz="2000" b="1" dirty="0">
                <a:ea typeface="Calibri" pitchFamily="34" charset="0"/>
                <a:cs typeface="ArialMT"/>
              </a:rPr>
              <a:t>fausse</a:t>
            </a:r>
            <a:r>
              <a:rPr lang="fr-CH" sz="2000" dirty="0">
                <a:ea typeface="Calibri" pitchFamily="34" charset="0"/>
                <a:cs typeface="ArialMT"/>
              </a:rPr>
              <a:t> ?</a:t>
            </a:r>
          </a:p>
          <a:p>
            <a:pPr marL="0" lvl="0" indent="0" fontAlgn="base">
              <a:spcBef>
                <a:spcPct val="0"/>
              </a:spcBef>
              <a:spcAft>
                <a:spcPct val="0"/>
              </a:spcAft>
              <a:buNone/>
            </a:pPr>
            <a:endParaRPr lang="fr-CH" sz="2000" dirty="0"/>
          </a:p>
          <a:p>
            <a:pPr marL="800100" lvl="1" indent="-342900" eaLnBrk="0" fontAlgn="base" hangingPunct="0">
              <a:spcBef>
                <a:spcPct val="0"/>
              </a:spcBef>
              <a:spcAft>
                <a:spcPct val="0"/>
              </a:spcAft>
              <a:buFont typeface="+mj-lt"/>
              <a:buAutoNum type="alphaUcPeriod"/>
            </a:pPr>
            <a:r>
              <a:rPr lang="fr-CH" sz="2000" dirty="0">
                <a:ea typeface="Calibri" pitchFamily="34" charset="0"/>
                <a:cs typeface="ArialMT"/>
              </a:rPr>
              <a:t>Toute personne a le droit de rédiger des directives anticipées pour spécifier le type de soins qu'elle </a:t>
            </a:r>
            <a:r>
              <a:rPr lang="fr-CH" sz="2000" dirty="0" smtClean="0">
                <a:ea typeface="Calibri" pitchFamily="34" charset="0"/>
                <a:cs typeface="ArialMT"/>
              </a:rPr>
              <a:t>désire</a:t>
            </a:r>
          </a:p>
          <a:p>
            <a:pPr marL="800100" lvl="1" indent="-342900" eaLnBrk="0" fontAlgn="base" hangingPunct="0">
              <a:spcBef>
                <a:spcPct val="0"/>
              </a:spcBef>
              <a:spcAft>
                <a:spcPct val="0"/>
              </a:spcAft>
              <a:buFont typeface="+mj-lt"/>
              <a:buAutoNum type="alphaUcPeriod"/>
            </a:pPr>
            <a:r>
              <a:rPr lang="fr-CH" sz="2000" dirty="0" smtClean="0">
                <a:ea typeface="Calibri" pitchFamily="34" charset="0"/>
                <a:cs typeface="ArialMT"/>
              </a:rPr>
              <a:t>Les </a:t>
            </a:r>
            <a:r>
              <a:rPr lang="fr-CH" sz="2000" dirty="0">
                <a:ea typeface="Calibri" pitchFamily="34" charset="0"/>
                <a:cs typeface="ArialMT"/>
              </a:rPr>
              <a:t>soignants ont le devoir de signaler les situations de maltraitance sur des mineurs dans le canton de Vaud</a:t>
            </a:r>
            <a:endParaRPr lang="fr-CH" sz="2000" dirty="0"/>
          </a:p>
          <a:p>
            <a:pPr marL="800100" lvl="1" indent="-342900" eaLnBrk="0" fontAlgn="base" hangingPunct="0">
              <a:spcBef>
                <a:spcPct val="0"/>
              </a:spcBef>
              <a:spcAft>
                <a:spcPct val="0"/>
              </a:spcAft>
              <a:buFont typeface="+mj-lt"/>
              <a:buAutoNum type="alphaUcPeriod"/>
            </a:pPr>
            <a:r>
              <a:rPr lang="fr-CH" sz="2000" dirty="0">
                <a:ea typeface="Calibri" pitchFamily="34" charset="0"/>
                <a:cs typeface="ArialMT"/>
              </a:rPr>
              <a:t>Les mineurs ne peuvent pas avoir accès à leur dossier médical</a:t>
            </a:r>
            <a:endParaRPr lang="fr-CH" sz="2000" dirty="0"/>
          </a:p>
          <a:p>
            <a:pPr marL="800100" lvl="1" indent="-342900" eaLnBrk="0" fontAlgn="base" hangingPunct="0">
              <a:spcBef>
                <a:spcPct val="0"/>
              </a:spcBef>
              <a:spcAft>
                <a:spcPct val="0"/>
              </a:spcAft>
              <a:buFont typeface="+mj-lt"/>
              <a:buAutoNum type="alphaUcPeriod"/>
            </a:pPr>
            <a:r>
              <a:rPr lang="fr-CH" sz="2000" dirty="0">
                <a:ea typeface="Calibri" pitchFamily="34" charset="0"/>
                <a:cs typeface="ArialMT"/>
              </a:rPr>
              <a:t>Les mesures de contrainte peuvent exceptionnellement être autorisées, leur nécessité devant alors être </a:t>
            </a:r>
            <a:r>
              <a:rPr lang="fr-CH" sz="2000" dirty="0" smtClean="0">
                <a:ea typeface="Calibri" pitchFamily="34" charset="0"/>
                <a:cs typeface="ArialMT"/>
              </a:rPr>
              <a:t>réévaluée</a:t>
            </a:r>
            <a:endParaRPr lang="fr-CH" sz="2000" dirty="0"/>
          </a:p>
          <a:p>
            <a:pPr marL="800100" lvl="1" indent="-342900" eaLnBrk="0" fontAlgn="base" hangingPunct="0">
              <a:spcBef>
                <a:spcPct val="0"/>
              </a:spcBef>
              <a:spcAft>
                <a:spcPct val="0"/>
              </a:spcAft>
              <a:buFont typeface="+mj-lt"/>
              <a:buAutoNum type="alphaUcPeriod"/>
            </a:pPr>
            <a:r>
              <a:rPr lang="fr-CH" sz="2000" dirty="0">
                <a:ea typeface="Calibri" pitchFamily="34" charset="0"/>
                <a:cs typeface="ArialMT"/>
              </a:rPr>
              <a:t>Le secret médical fait l’objet d’un article du Code pénal</a:t>
            </a:r>
          </a:p>
          <a:p>
            <a:pPr marL="0" lvl="0" indent="0" eaLnBrk="0" fontAlgn="base" hangingPunct="0">
              <a:spcBef>
                <a:spcPct val="0"/>
              </a:spcBef>
              <a:spcAft>
                <a:spcPct val="0"/>
              </a:spcAft>
              <a:buNone/>
            </a:pPr>
            <a:endParaRPr lang="fr-CH" sz="2000" dirty="0" smtClean="0"/>
          </a:p>
          <a:p>
            <a:pPr marL="0" lvl="0" indent="0" eaLnBrk="0" fontAlgn="base" hangingPunct="0">
              <a:spcBef>
                <a:spcPct val="0"/>
              </a:spcBef>
              <a:spcAft>
                <a:spcPct val="0"/>
              </a:spcAft>
              <a:buNone/>
            </a:pPr>
            <a:endParaRPr lang="fr-CH" sz="2000" dirty="0"/>
          </a:p>
          <a:p>
            <a:pPr marL="0" lvl="0" indent="0" eaLnBrk="0" fontAlgn="base" hangingPunct="0">
              <a:spcBef>
                <a:spcPct val="0"/>
              </a:spcBef>
              <a:spcAft>
                <a:spcPct val="0"/>
              </a:spcAft>
              <a:buNone/>
            </a:pPr>
            <a:r>
              <a:rPr lang="fr-CH" sz="2000" dirty="0" smtClean="0"/>
              <a:t>J. Gasser</a:t>
            </a:r>
            <a:endParaRPr lang="fr-CH" sz="2000" dirty="0"/>
          </a:p>
          <a:p>
            <a:pPr marL="0" indent="0">
              <a:buNone/>
            </a:pPr>
            <a:endParaRPr lang="fr-FR"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899592" y="3789040"/>
            <a:ext cx="360040" cy="28803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2" name="Titre 1"/>
          <p:cNvSpPr>
            <a:spLocks noGrp="1"/>
          </p:cNvSpPr>
          <p:nvPr>
            <p:ph type="title"/>
          </p:nvPr>
        </p:nvSpPr>
        <p:spPr/>
        <p:txBody>
          <a:bodyPr>
            <a:normAutofit/>
          </a:bodyPr>
          <a:lstStyle/>
          <a:p>
            <a:r>
              <a:rPr lang="fr-FR" sz="3600" dirty="0"/>
              <a:t>Aspects légaux</a:t>
            </a:r>
          </a:p>
        </p:txBody>
      </p:sp>
      <p:sp>
        <p:nvSpPr>
          <p:cNvPr id="4" name="Espace réservé du contenu 3"/>
          <p:cNvSpPr>
            <a:spLocks noGrp="1"/>
          </p:cNvSpPr>
          <p:nvPr>
            <p:ph idx="1"/>
          </p:nvPr>
        </p:nvSpPr>
        <p:spPr/>
        <p:txBody>
          <a:bodyPr>
            <a:noAutofit/>
          </a:bodyPr>
          <a:lstStyle/>
          <a:p>
            <a:pPr marL="0" lvl="0" indent="0" fontAlgn="base">
              <a:spcBef>
                <a:spcPct val="0"/>
              </a:spcBef>
              <a:spcAft>
                <a:spcPct val="0"/>
              </a:spcAft>
              <a:buNone/>
            </a:pPr>
            <a:r>
              <a:rPr lang="fr-CH" sz="2000" dirty="0" smtClean="0">
                <a:solidFill>
                  <a:srgbClr val="000000"/>
                </a:solidFill>
                <a:ea typeface="Calibri" pitchFamily="34" charset="0"/>
                <a:cs typeface="ArialMT"/>
              </a:rPr>
              <a:t>Laquelle des mesures suivantes peut être une </a:t>
            </a:r>
            <a:r>
              <a:rPr lang="fr-CH" sz="2000" dirty="0">
                <a:solidFill>
                  <a:srgbClr val="000000"/>
                </a:solidFill>
                <a:ea typeface="Calibri" pitchFamily="34" charset="0"/>
                <a:cs typeface="ArialMT"/>
              </a:rPr>
              <a:t>mesure de </a:t>
            </a:r>
            <a:r>
              <a:rPr lang="fr-CH" sz="2000" dirty="0" smtClean="0">
                <a:solidFill>
                  <a:srgbClr val="000000"/>
                </a:solidFill>
                <a:ea typeface="Calibri" pitchFamily="34" charset="0"/>
                <a:cs typeface="ArialMT"/>
              </a:rPr>
              <a:t>contrainte au sens de la Loi:</a:t>
            </a:r>
            <a:endParaRPr lang="fr-CH" sz="2000" dirty="0"/>
          </a:p>
          <a:p>
            <a:pPr marL="0" lvl="0" indent="0" eaLnBrk="0" fontAlgn="base" hangingPunct="0">
              <a:spcBef>
                <a:spcPct val="0"/>
              </a:spcBef>
              <a:spcAft>
                <a:spcPct val="0"/>
              </a:spcAft>
              <a:buNone/>
            </a:pPr>
            <a:r>
              <a:rPr lang="fr-CH" sz="2000" dirty="0">
                <a:solidFill>
                  <a:srgbClr val="000000"/>
                </a:solidFill>
                <a:ea typeface="Calibri" pitchFamily="34" charset="0"/>
                <a:cs typeface="ArialMT"/>
              </a:rPr>
              <a:t> </a:t>
            </a:r>
            <a:endParaRPr lang="fr-CH" sz="2000" dirty="0"/>
          </a:p>
          <a:p>
            <a:pPr marL="800100" lvl="1" indent="-342900" eaLnBrk="0" fontAlgn="base" hangingPunct="0">
              <a:spcBef>
                <a:spcPct val="0"/>
              </a:spcBef>
              <a:spcAft>
                <a:spcPct val="0"/>
              </a:spcAft>
              <a:buFont typeface="+mj-lt"/>
              <a:buAutoNum type="alphaUcPeriod"/>
            </a:pPr>
            <a:r>
              <a:rPr lang="fr-CH" sz="2000" dirty="0" smtClean="0">
                <a:solidFill>
                  <a:srgbClr val="000000"/>
                </a:solidFill>
                <a:ea typeface="Calibri" pitchFamily="34" charset="0"/>
                <a:cs typeface="ArialMT"/>
              </a:rPr>
              <a:t>une </a:t>
            </a:r>
            <a:r>
              <a:rPr lang="fr-CH" sz="2000" dirty="0">
                <a:solidFill>
                  <a:srgbClr val="000000"/>
                </a:solidFill>
                <a:ea typeface="Calibri" pitchFamily="34" charset="0"/>
                <a:cs typeface="ArialMT"/>
              </a:rPr>
              <a:t>mesure juridique qui oblige une autorité à prendre en charge un patient</a:t>
            </a:r>
            <a:endParaRPr lang="fr-CH" sz="2000" dirty="0"/>
          </a:p>
          <a:p>
            <a:pPr marL="800100" lvl="1" indent="-342900" eaLnBrk="0" fontAlgn="base" hangingPunct="0">
              <a:spcBef>
                <a:spcPct val="0"/>
              </a:spcBef>
              <a:spcAft>
                <a:spcPct val="0"/>
              </a:spcAft>
              <a:buFont typeface="+mj-lt"/>
              <a:buAutoNum type="alphaUcPeriod"/>
            </a:pPr>
            <a:r>
              <a:rPr lang="fr-CH" sz="2000" dirty="0" smtClean="0">
                <a:solidFill>
                  <a:srgbClr val="000000"/>
                </a:solidFill>
                <a:ea typeface="Calibri" pitchFamily="34" charset="0"/>
                <a:cs typeface="ArialMT"/>
              </a:rPr>
              <a:t>une </a:t>
            </a:r>
            <a:r>
              <a:rPr lang="fr-CH" sz="2000" dirty="0">
                <a:solidFill>
                  <a:srgbClr val="000000"/>
                </a:solidFill>
                <a:ea typeface="Calibri" pitchFamily="34" charset="0"/>
                <a:cs typeface="ArialMT"/>
              </a:rPr>
              <a:t>mesure qui oblige un médecin à soigner un patient</a:t>
            </a:r>
            <a:endParaRPr lang="fr-CH" sz="2000" dirty="0"/>
          </a:p>
          <a:p>
            <a:pPr marL="800100" lvl="1" indent="-342900" eaLnBrk="0" fontAlgn="base" hangingPunct="0">
              <a:spcBef>
                <a:spcPct val="0"/>
              </a:spcBef>
              <a:spcAft>
                <a:spcPct val="0"/>
              </a:spcAft>
              <a:buFont typeface="+mj-lt"/>
              <a:buAutoNum type="alphaUcPeriod"/>
            </a:pPr>
            <a:r>
              <a:rPr lang="fr-CH" sz="2000" dirty="0" smtClean="0">
                <a:solidFill>
                  <a:srgbClr val="000000"/>
                </a:solidFill>
                <a:ea typeface="Calibri" pitchFamily="34" charset="0"/>
                <a:cs typeface="ArialMT"/>
              </a:rPr>
              <a:t>une </a:t>
            </a:r>
            <a:r>
              <a:rPr lang="fr-CH" sz="2000" dirty="0">
                <a:solidFill>
                  <a:srgbClr val="000000"/>
                </a:solidFill>
                <a:ea typeface="Calibri" pitchFamily="34" charset="0"/>
                <a:cs typeface="ArialMT"/>
              </a:rPr>
              <a:t>mesure punitive</a:t>
            </a:r>
            <a:endParaRPr lang="fr-CH" sz="2000" dirty="0"/>
          </a:p>
          <a:p>
            <a:pPr marL="800100" lvl="1" indent="-342900" eaLnBrk="0" fontAlgn="base" hangingPunct="0">
              <a:spcBef>
                <a:spcPct val="0"/>
              </a:spcBef>
              <a:spcAft>
                <a:spcPct val="0"/>
              </a:spcAft>
              <a:buFont typeface="+mj-lt"/>
              <a:buAutoNum type="alphaUcPeriod"/>
            </a:pPr>
            <a:r>
              <a:rPr lang="fr-CH" sz="2000" dirty="0" smtClean="0">
                <a:solidFill>
                  <a:srgbClr val="000000"/>
                </a:solidFill>
                <a:ea typeface="Calibri" pitchFamily="34" charset="0"/>
                <a:cs typeface="ArialMT"/>
              </a:rPr>
              <a:t>une </a:t>
            </a:r>
            <a:r>
              <a:rPr lang="fr-CH" sz="2000" dirty="0">
                <a:solidFill>
                  <a:srgbClr val="000000"/>
                </a:solidFill>
                <a:ea typeface="Calibri" pitchFamily="34" charset="0"/>
                <a:cs typeface="ArialMT"/>
              </a:rPr>
              <a:t>mise en chambre de soins intensifs fermée</a:t>
            </a:r>
          </a:p>
          <a:p>
            <a:pPr marL="800100" lvl="1" indent="-342900" eaLnBrk="0" fontAlgn="base" hangingPunct="0">
              <a:spcBef>
                <a:spcPct val="0"/>
              </a:spcBef>
              <a:spcAft>
                <a:spcPct val="0"/>
              </a:spcAft>
              <a:buFont typeface="+mj-lt"/>
              <a:buAutoNum type="alphaUcPeriod"/>
            </a:pPr>
            <a:r>
              <a:rPr lang="fr-CH" sz="2000" dirty="0" smtClean="0">
                <a:solidFill>
                  <a:srgbClr val="000000"/>
                </a:solidFill>
                <a:ea typeface="Calibri" pitchFamily="34" charset="0"/>
                <a:cs typeface="ArialMT"/>
              </a:rPr>
              <a:t>une </a:t>
            </a:r>
            <a:r>
              <a:rPr lang="fr-CH" sz="2000" dirty="0">
                <a:solidFill>
                  <a:srgbClr val="000000"/>
                </a:solidFill>
                <a:ea typeface="Calibri" pitchFamily="34" charset="0"/>
                <a:cs typeface="ArialMT"/>
              </a:rPr>
              <a:t>prescription régulière de médicament</a:t>
            </a:r>
            <a:endParaRPr lang="fr-CH" sz="2000" dirty="0"/>
          </a:p>
          <a:p>
            <a:pPr marL="0" indent="0" eaLnBrk="0" fontAlgn="base" hangingPunct="0">
              <a:spcBef>
                <a:spcPct val="0"/>
              </a:spcBef>
              <a:spcAft>
                <a:spcPct val="0"/>
              </a:spcAft>
              <a:buNone/>
            </a:pPr>
            <a:endParaRPr lang="fr-CH" sz="2000" dirty="0" smtClean="0"/>
          </a:p>
          <a:p>
            <a:pPr marL="0" indent="0" eaLnBrk="0" fontAlgn="base" hangingPunct="0">
              <a:spcBef>
                <a:spcPct val="0"/>
              </a:spcBef>
              <a:spcAft>
                <a:spcPct val="0"/>
              </a:spcAft>
              <a:buNone/>
            </a:pPr>
            <a:endParaRPr lang="fr-CH" sz="2000" dirty="0" smtClean="0"/>
          </a:p>
          <a:p>
            <a:pPr marL="0" indent="0" eaLnBrk="0" fontAlgn="base" hangingPunct="0">
              <a:spcBef>
                <a:spcPct val="0"/>
              </a:spcBef>
              <a:spcAft>
                <a:spcPct val="0"/>
              </a:spcAft>
              <a:buNone/>
            </a:pPr>
            <a:endParaRPr lang="fr-CH" sz="2000" dirty="0"/>
          </a:p>
          <a:p>
            <a:pPr marL="0" indent="0" eaLnBrk="0" fontAlgn="base" hangingPunct="0">
              <a:spcBef>
                <a:spcPct val="0"/>
              </a:spcBef>
              <a:spcAft>
                <a:spcPct val="0"/>
              </a:spcAft>
              <a:buNone/>
            </a:pPr>
            <a:endParaRPr lang="fr-CH" sz="2000" dirty="0" smtClean="0"/>
          </a:p>
          <a:p>
            <a:pPr marL="0" indent="0" eaLnBrk="0" fontAlgn="base" hangingPunct="0">
              <a:spcBef>
                <a:spcPct val="0"/>
              </a:spcBef>
              <a:spcAft>
                <a:spcPct val="0"/>
              </a:spcAft>
              <a:buNone/>
            </a:pPr>
            <a:endParaRPr lang="fr-CH" sz="2000" dirty="0"/>
          </a:p>
          <a:p>
            <a:pPr marL="0" indent="0" eaLnBrk="0" fontAlgn="base" hangingPunct="0">
              <a:spcBef>
                <a:spcPct val="0"/>
              </a:spcBef>
              <a:spcAft>
                <a:spcPct val="0"/>
              </a:spcAft>
              <a:buNone/>
            </a:pPr>
            <a:r>
              <a:rPr lang="fr-CH" sz="2000" dirty="0" smtClean="0"/>
              <a:t>J. Gasser</a:t>
            </a:r>
            <a:endParaRPr lang="fr-CH" sz="2000" dirty="0"/>
          </a:p>
          <a:p>
            <a:pPr marL="0" indent="0">
              <a:buNone/>
            </a:pPr>
            <a:endParaRPr lang="fr-FR"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899592" y="2564904"/>
            <a:ext cx="360040" cy="28803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2" name="Titre 1"/>
          <p:cNvSpPr>
            <a:spLocks noGrp="1"/>
          </p:cNvSpPr>
          <p:nvPr>
            <p:ph type="title"/>
          </p:nvPr>
        </p:nvSpPr>
        <p:spPr/>
        <p:txBody>
          <a:bodyPr>
            <a:normAutofit/>
          </a:bodyPr>
          <a:lstStyle/>
          <a:p>
            <a:r>
              <a:rPr lang="fr-FR" sz="3600" dirty="0" smtClean="0"/>
              <a:t>Suicide</a:t>
            </a:r>
            <a:endParaRPr lang="fr-FR" sz="3600" dirty="0"/>
          </a:p>
        </p:txBody>
      </p:sp>
      <p:sp>
        <p:nvSpPr>
          <p:cNvPr id="4" name="Espace réservé du contenu 3"/>
          <p:cNvSpPr>
            <a:spLocks noGrp="1"/>
          </p:cNvSpPr>
          <p:nvPr>
            <p:ph idx="1"/>
          </p:nvPr>
        </p:nvSpPr>
        <p:spPr/>
        <p:txBody>
          <a:bodyPr>
            <a:noAutofit/>
          </a:bodyPr>
          <a:lstStyle/>
          <a:p>
            <a:pPr marL="0" lvl="0" indent="0" fontAlgn="base">
              <a:spcBef>
                <a:spcPct val="0"/>
              </a:spcBef>
              <a:spcAft>
                <a:spcPct val="0"/>
              </a:spcAft>
              <a:buNone/>
            </a:pPr>
            <a:r>
              <a:rPr lang="fr-FR" sz="2000" dirty="0">
                <a:ea typeface="Times New Roman" pitchFamily="18" charset="0"/>
              </a:rPr>
              <a:t>A propos du risque suicidaire, </a:t>
            </a:r>
            <a:r>
              <a:rPr lang="fr-FR" sz="2000" b="1" dirty="0">
                <a:ea typeface="Times New Roman" pitchFamily="18" charset="0"/>
              </a:rPr>
              <a:t>laquelle de ces </a:t>
            </a:r>
            <a:r>
              <a:rPr lang="fr-FR" sz="2000" b="1">
                <a:ea typeface="Times New Roman" pitchFamily="18" charset="0"/>
              </a:rPr>
              <a:t>propositions </a:t>
            </a:r>
            <a:r>
              <a:rPr lang="fr-FR" sz="2000" b="1" smtClean="0">
                <a:ea typeface="Times New Roman" pitchFamily="18" charset="0"/>
              </a:rPr>
              <a:t>est </a:t>
            </a:r>
            <a:r>
              <a:rPr lang="fr-FR" sz="2000" b="1" dirty="0">
                <a:ea typeface="Times New Roman" pitchFamily="18" charset="0"/>
              </a:rPr>
              <a:t>juste ?</a:t>
            </a:r>
          </a:p>
          <a:p>
            <a:pPr marL="0" lvl="0" indent="0" fontAlgn="base">
              <a:spcBef>
                <a:spcPct val="0"/>
              </a:spcBef>
              <a:spcAft>
                <a:spcPct val="0"/>
              </a:spcAft>
              <a:buNone/>
            </a:pPr>
            <a:endParaRPr lang="fr-CH" sz="2000" dirty="0"/>
          </a:p>
          <a:p>
            <a:pPr marL="800100" lvl="1" indent="-342900" eaLnBrk="0" fontAlgn="base" hangingPunct="0">
              <a:spcBef>
                <a:spcPct val="0"/>
              </a:spcBef>
              <a:spcAft>
                <a:spcPct val="0"/>
              </a:spcAft>
              <a:buFont typeface="+mj-lt"/>
              <a:buAutoNum type="alphaUcPeriod"/>
            </a:pPr>
            <a:r>
              <a:rPr lang="fr-FR" sz="2000" dirty="0">
                <a:ea typeface="Times New Roman" pitchFamily="18" charset="0"/>
              </a:rPr>
              <a:t>Il faut hospitaliser tous les patients qui évoquent des idées suicidaires</a:t>
            </a:r>
            <a:endParaRPr lang="fr-CH" sz="2000" dirty="0"/>
          </a:p>
          <a:p>
            <a:pPr marL="800100" lvl="1" indent="-342900" eaLnBrk="0" fontAlgn="base" hangingPunct="0">
              <a:spcBef>
                <a:spcPct val="0"/>
              </a:spcBef>
              <a:spcAft>
                <a:spcPct val="0"/>
              </a:spcAft>
              <a:buFont typeface="+mj-lt"/>
              <a:buAutoNum type="alphaUcPeriod"/>
            </a:pPr>
            <a:r>
              <a:rPr lang="fr-FR" sz="2000" dirty="0">
                <a:ea typeface="Times New Roman" pitchFamily="18" charset="0"/>
              </a:rPr>
              <a:t>L’existence de tentatives de suicide antérieures qui n’ont pas abouti augmente le risque d’un suicide réussi</a:t>
            </a:r>
            <a:endParaRPr lang="fr-CH" sz="2000" dirty="0"/>
          </a:p>
          <a:p>
            <a:pPr marL="800100" lvl="1" indent="-342900" eaLnBrk="0" fontAlgn="base" hangingPunct="0">
              <a:spcBef>
                <a:spcPct val="0"/>
              </a:spcBef>
              <a:spcAft>
                <a:spcPct val="0"/>
              </a:spcAft>
              <a:buFont typeface="+mj-lt"/>
              <a:buAutoNum type="alphaUcPeriod"/>
            </a:pPr>
            <a:r>
              <a:rPr lang="fr-FR" sz="2000" dirty="0">
                <a:ea typeface="Times New Roman" pitchFamily="18" charset="0"/>
              </a:rPr>
              <a:t>Lorsqu’un patient décrit en détail le scénario qu’il a imaginé pour se suicider, on peut considérer que le risque est faible </a:t>
            </a:r>
            <a:r>
              <a:rPr lang="fr-CH" sz="2000" dirty="0" smtClean="0">
                <a:ea typeface="Times New Roman" pitchFamily="18" charset="0"/>
              </a:rPr>
              <a:t>car le patient est capable d’en parler</a:t>
            </a:r>
            <a:endParaRPr lang="fr-CH" sz="2000" dirty="0"/>
          </a:p>
          <a:p>
            <a:pPr marL="800100" lvl="1" indent="-342900" eaLnBrk="0" fontAlgn="base" hangingPunct="0">
              <a:spcBef>
                <a:spcPct val="0"/>
              </a:spcBef>
              <a:spcAft>
                <a:spcPct val="0"/>
              </a:spcAft>
              <a:buFont typeface="+mj-lt"/>
              <a:buAutoNum type="alphaUcPeriod"/>
            </a:pPr>
            <a:r>
              <a:rPr lang="fr-CH" sz="2000" dirty="0" smtClean="0">
                <a:ea typeface="Times New Roman" pitchFamily="18" charset="0"/>
              </a:rPr>
              <a:t>L</a:t>
            </a:r>
            <a:r>
              <a:rPr lang="fr-FR" sz="2000" dirty="0" smtClean="0">
                <a:ea typeface="Times New Roman" pitchFamily="18" charset="0"/>
              </a:rPr>
              <a:t>a grande majorité des patients (&gt;70%) ayant réussi leur suicide présentaient peu auparavant les symptômes caractéristiques du Trouble dépressif majeur </a:t>
            </a:r>
          </a:p>
          <a:p>
            <a:pPr marL="800100" lvl="1" indent="-342900" eaLnBrk="0" fontAlgn="base" hangingPunct="0">
              <a:spcBef>
                <a:spcPct val="0"/>
              </a:spcBef>
              <a:spcAft>
                <a:spcPct val="0"/>
              </a:spcAft>
              <a:buFont typeface="+mj-lt"/>
              <a:buAutoNum type="alphaUcPeriod"/>
            </a:pPr>
            <a:r>
              <a:rPr lang="fr-FR" sz="2000" dirty="0" smtClean="0">
                <a:ea typeface="Times New Roman" pitchFamily="18" charset="0"/>
              </a:rPr>
              <a:t>Il vaut mieux évoquer le risque suicidaire avec les proches d’un patient plutôt qu’avec celui-ci, car parler de ce sujet augmente le risque de passage à l’acte</a:t>
            </a:r>
          </a:p>
          <a:p>
            <a:pPr marL="0" lvl="0" indent="0" eaLnBrk="0" fontAlgn="base" hangingPunct="0">
              <a:spcBef>
                <a:spcPct val="0"/>
              </a:spcBef>
              <a:spcAft>
                <a:spcPct val="0"/>
              </a:spcAft>
              <a:buNone/>
            </a:pPr>
            <a:endParaRPr lang="fr-FR" sz="2000" dirty="0" smtClean="0"/>
          </a:p>
          <a:p>
            <a:pPr marL="0" lvl="0" indent="0" eaLnBrk="0" fontAlgn="base" hangingPunct="0">
              <a:spcBef>
                <a:spcPct val="0"/>
              </a:spcBef>
              <a:spcAft>
                <a:spcPct val="0"/>
              </a:spcAft>
              <a:buNone/>
            </a:pPr>
            <a:r>
              <a:rPr lang="fr-FR" sz="2000" dirty="0" smtClean="0"/>
              <a:t>P. Bovet</a:t>
            </a:r>
            <a:endParaRPr lang="fr-FR" sz="2000" dirty="0"/>
          </a:p>
          <a:p>
            <a:pPr marL="0" indent="0">
              <a:buNone/>
            </a:pPr>
            <a:endParaRPr lang="fr-FR"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nchor="ctr"/>
          <a:lstStyle/>
          <a:p>
            <a:pPr eaLnBrk="1" hangingPunct="1"/>
            <a:r>
              <a:rPr lang="fr-FR" sz="3200" dirty="0"/>
              <a:t>Evaluation du potentiel suicidaire</a:t>
            </a:r>
          </a:p>
        </p:txBody>
      </p:sp>
      <p:sp>
        <p:nvSpPr>
          <p:cNvPr id="90115" name="Rectangle 3"/>
          <p:cNvSpPr>
            <a:spLocks noGrp="1" noChangeArrowheads="1"/>
          </p:cNvSpPr>
          <p:nvPr>
            <p:ph idx="1"/>
          </p:nvPr>
        </p:nvSpPr>
        <p:spPr/>
        <p:txBody>
          <a:bodyPr/>
          <a:lstStyle/>
          <a:p>
            <a:pPr eaLnBrk="1" hangingPunct="1">
              <a:buFont typeface="Wingdings" charset="2"/>
              <a:buChar char="§"/>
            </a:pPr>
            <a:r>
              <a:rPr lang="fr-CH" sz="2400" b="1" dirty="0"/>
              <a:t>Risque</a:t>
            </a:r>
            <a:r>
              <a:rPr lang="fr-CH" sz="2400" dirty="0"/>
              <a:t>: facteurs prédisposant sur le plan épidémiologique, augmentant le risque de mourir par suicide</a:t>
            </a:r>
          </a:p>
          <a:p>
            <a:pPr eaLnBrk="1" hangingPunct="1">
              <a:buFont typeface="Wingdings" charset="2"/>
              <a:buChar char="§"/>
            </a:pPr>
            <a:r>
              <a:rPr lang="fr-FR" sz="2400" b="1" dirty="0"/>
              <a:t>Urgence</a:t>
            </a:r>
            <a:r>
              <a:rPr lang="fr-FR" sz="2400" dirty="0"/>
              <a:t>: imminence de la conduite suicidaire – degré d’élaboration du scénario suicidaire (où, quand, </a:t>
            </a:r>
            <a:r>
              <a:rPr lang="fr-FR" sz="2400" dirty="0" smtClean="0"/>
              <a:t>comment, avec quoi)</a:t>
            </a:r>
            <a:endParaRPr lang="fr-FR" sz="2400" dirty="0"/>
          </a:p>
          <a:p>
            <a:pPr eaLnBrk="1" hangingPunct="1">
              <a:buFont typeface="Wingdings" charset="2"/>
              <a:buChar char="§"/>
            </a:pPr>
            <a:r>
              <a:rPr lang="fr-FR" sz="2400" b="1" dirty="0"/>
              <a:t>Dangerosité</a:t>
            </a:r>
            <a:r>
              <a:rPr lang="fr-FR" sz="2400" dirty="0"/>
              <a:t>: létalité et accessibilité du moyen</a:t>
            </a:r>
          </a:p>
        </p:txBody>
      </p:sp>
    </p:spTree>
    <p:extLst>
      <p:ext uri="{BB962C8B-B14F-4D97-AF65-F5344CB8AC3E}">
        <p14:creationId xmlns:p14="http://schemas.microsoft.com/office/powerpoint/2010/main" val="2820220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nchor="ctr"/>
          <a:lstStyle/>
          <a:p>
            <a:pPr eaLnBrk="1" hangingPunct="1"/>
            <a:r>
              <a:rPr lang="fr-FR" sz="3200" dirty="0">
                <a:solidFill>
                  <a:schemeClr val="tx1"/>
                </a:solidFill>
              </a:rPr>
              <a:t>Risque</a:t>
            </a:r>
          </a:p>
        </p:txBody>
      </p:sp>
      <p:sp>
        <p:nvSpPr>
          <p:cNvPr id="54275" name="Rectangle 3"/>
          <p:cNvSpPr>
            <a:spLocks noGrp="1" noChangeArrowheads="1"/>
          </p:cNvSpPr>
          <p:nvPr>
            <p:ph idx="1"/>
          </p:nvPr>
        </p:nvSpPr>
        <p:spPr/>
        <p:txBody>
          <a:bodyPr/>
          <a:lstStyle/>
          <a:p>
            <a:pPr eaLnBrk="1" hangingPunct="1">
              <a:lnSpc>
                <a:spcPct val="90000"/>
              </a:lnSpc>
              <a:buFont typeface="Wingdings" charset="2"/>
              <a:buChar char="§"/>
            </a:pPr>
            <a:r>
              <a:rPr lang="fr-CH" sz="2400" dirty="0" smtClean="0"/>
              <a:t>Tentatives précédentes</a:t>
            </a:r>
            <a:endParaRPr lang="fr-CH" sz="2400" dirty="0"/>
          </a:p>
          <a:p>
            <a:pPr eaLnBrk="1" hangingPunct="1">
              <a:lnSpc>
                <a:spcPct val="90000"/>
              </a:lnSpc>
              <a:buFont typeface="Wingdings" charset="2"/>
              <a:buChar char="§"/>
            </a:pPr>
            <a:r>
              <a:rPr lang="fr-CH" sz="2400" dirty="0" smtClean="0"/>
              <a:t>Troubles psychiatriques (90%)</a:t>
            </a:r>
          </a:p>
          <a:p>
            <a:pPr eaLnBrk="1" hangingPunct="1">
              <a:lnSpc>
                <a:spcPct val="90000"/>
              </a:lnSpc>
              <a:buFont typeface="Wingdings" charset="2"/>
              <a:buChar char="§"/>
            </a:pPr>
            <a:r>
              <a:rPr lang="fr-CH" sz="2400" dirty="0" smtClean="0"/>
              <a:t>Troubles </a:t>
            </a:r>
            <a:r>
              <a:rPr lang="fr-CH" sz="2400" dirty="0"/>
              <a:t>santé physique (maladie, handicap)</a:t>
            </a:r>
          </a:p>
          <a:p>
            <a:pPr eaLnBrk="1" hangingPunct="1">
              <a:lnSpc>
                <a:spcPct val="90000"/>
              </a:lnSpc>
              <a:buFont typeface="Wingdings" charset="2"/>
              <a:buChar char="§"/>
            </a:pPr>
            <a:r>
              <a:rPr lang="fr-CH" sz="2400" dirty="0" smtClean="0"/>
              <a:t>Crise relationnelle (40% sans emploi)</a:t>
            </a:r>
          </a:p>
          <a:p>
            <a:pPr eaLnBrk="1" hangingPunct="1">
              <a:lnSpc>
                <a:spcPct val="90000"/>
              </a:lnSpc>
              <a:buFont typeface="Wingdings" charset="2"/>
              <a:buChar char="§"/>
            </a:pPr>
            <a:r>
              <a:rPr lang="fr-CH" sz="2400" dirty="0" smtClean="0"/>
              <a:t>Isolement (45% vivent seul)</a:t>
            </a:r>
          </a:p>
          <a:p>
            <a:pPr eaLnBrk="1" hangingPunct="1">
              <a:lnSpc>
                <a:spcPct val="90000"/>
              </a:lnSpc>
              <a:buFont typeface="Wingdings" charset="2"/>
              <a:buChar char="§"/>
            </a:pPr>
            <a:r>
              <a:rPr lang="fr-CH" sz="2400" dirty="0" smtClean="0"/>
              <a:t>Accès aux moyens</a:t>
            </a:r>
          </a:p>
          <a:p>
            <a:pPr eaLnBrk="1" hangingPunct="1">
              <a:lnSpc>
                <a:spcPct val="90000"/>
              </a:lnSpc>
              <a:buFont typeface="Wingdings" charset="2"/>
              <a:buChar char="§"/>
            </a:pPr>
            <a:r>
              <a:rPr lang="fr-CH" sz="2400" dirty="0" smtClean="0"/>
              <a:t>Contagion</a:t>
            </a:r>
          </a:p>
          <a:p>
            <a:pPr eaLnBrk="1" hangingPunct="1">
              <a:lnSpc>
                <a:spcPct val="90000"/>
              </a:lnSpc>
              <a:buFont typeface="Wingdings" charset="2"/>
              <a:buChar char="§"/>
            </a:pPr>
            <a:endParaRPr lang="fr-CH" sz="2400" dirty="0" smtClean="0"/>
          </a:p>
        </p:txBody>
      </p:sp>
    </p:spTree>
    <p:extLst>
      <p:ext uri="{BB962C8B-B14F-4D97-AF65-F5344CB8AC3E}">
        <p14:creationId xmlns:p14="http://schemas.microsoft.com/office/powerpoint/2010/main" val="38703091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1026"/>
          <p:cNvSpPr>
            <a:spLocks noGrp="1" noChangeArrowheads="1"/>
          </p:cNvSpPr>
          <p:nvPr>
            <p:ph type="title"/>
          </p:nvPr>
        </p:nvSpPr>
        <p:spPr/>
        <p:txBody>
          <a:bodyPr anchor="ctr"/>
          <a:lstStyle/>
          <a:p>
            <a:pPr eaLnBrk="1" hangingPunct="1"/>
            <a:r>
              <a:rPr lang="fr-FR" sz="3200" dirty="0" smtClean="0"/>
              <a:t>Risque</a:t>
            </a:r>
            <a:endParaRPr lang="fr-FR" sz="3200" dirty="0"/>
          </a:p>
        </p:txBody>
      </p:sp>
      <p:sp>
        <p:nvSpPr>
          <p:cNvPr id="89091" name="Rectangle 1027"/>
          <p:cNvSpPr>
            <a:spLocks noGrp="1" noChangeArrowheads="1"/>
          </p:cNvSpPr>
          <p:nvPr>
            <p:ph idx="1"/>
          </p:nvPr>
        </p:nvSpPr>
        <p:spPr/>
        <p:txBody>
          <a:bodyPr/>
          <a:lstStyle/>
          <a:p>
            <a:pPr eaLnBrk="1" hangingPunct="1">
              <a:buClr>
                <a:srgbClr val="FFCC00"/>
              </a:buClr>
              <a:buFont typeface="Wingdings" charset="2"/>
              <a:buNone/>
            </a:pPr>
            <a:r>
              <a:rPr lang="fr-CH" sz="2400" dirty="0"/>
              <a:t>Chez 90% des suicidés (autopsies psychiatriques):</a:t>
            </a:r>
          </a:p>
          <a:p>
            <a:pPr eaLnBrk="1" hangingPunct="1">
              <a:buClr>
                <a:srgbClr val="FFCC00"/>
              </a:buClr>
              <a:buFont typeface="Wingdings" charset="2"/>
              <a:buNone/>
            </a:pPr>
            <a:endParaRPr lang="fr-CH" sz="2400" dirty="0"/>
          </a:p>
          <a:p>
            <a:pPr eaLnBrk="1" hangingPunct="1">
              <a:buFont typeface="Wingdings" charset="2"/>
              <a:buChar char="§"/>
            </a:pPr>
            <a:r>
              <a:rPr lang="fr-CH" sz="2400" dirty="0"/>
              <a:t>Dépression		</a:t>
            </a:r>
            <a:r>
              <a:rPr lang="fr-CH" sz="2400" dirty="0" smtClean="0"/>
              <a:t>		50</a:t>
            </a:r>
            <a:r>
              <a:rPr lang="fr-CH" sz="2400" dirty="0"/>
              <a:t>%</a:t>
            </a:r>
          </a:p>
          <a:p>
            <a:pPr eaLnBrk="1" hangingPunct="1">
              <a:buFont typeface="Wingdings" charset="2"/>
              <a:buChar char="§"/>
            </a:pPr>
            <a:r>
              <a:rPr lang="fr-CH" sz="2400" dirty="0"/>
              <a:t>Tr personnalité</a:t>
            </a:r>
            <a:r>
              <a:rPr lang="fr-CH" sz="2400" dirty="0" smtClean="0"/>
              <a:t>			35</a:t>
            </a:r>
            <a:r>
              <a:rPr lang="fr-CH" sz="2400" dirty="0"/>
              <a:t>%</a:t>
            </a:r>
          </a:p>
          <a:p>
            <a:pPr eaLnBrk="1" hangingPunct="1">
              <a:buFont typeface="Wingdings" charset="2"/>
              <a:buChar char="§"/>
            </a:pPr>
            <a:r>
              <a:rPr lang="fr-CH" sz="2400" dirty="0"/>
              <a:t>Alcoolisme		</a:t>
            </a:r>
            <a:r>
              <a:rPr lang="fr-CH" sz="2400" dirty="0" smtClean="0"/>
              <a:t>		30</a:t>
            </a:r>
            <a:r>
              <a:rPr lang="fr-CH" sz="2400" dirty="0"/>
              <a:t>%</a:t>
            </a:r>
          </a:p>
          <a:p>
            <a:pPr eaLnBrk="1" hangingPunct="1">
              <a:buFont typeface="Wingdings" charset="2"/>
              <a:buChar char="§"/>
            </a:pPr>
            <a:r>
              <a:rPr lang="fr-CH" sz="2400" dirty="0" smtClean="0"/>
              <a:t>Schizophrénie			   6</a:t>
            </a:r>
            <a:r>
              <a:rPr lang="fr-CH" sz="2400" dirty="0"/>
              <a:t>%</a:t>
            </a:r>
          </a:p>
          <a:p>
            <a:pPr eaLnBrk="1" hangingPunct="1">
              <a:buClr>
                <a:srgbClr val="FFCC00"/>
              </a:buClr>
              <a:buFont typeface="Wingdings" charset="2"/>
              <a:buChar char="§"/>
            </a:pPr>
            <a:endParaRPr lang="fr-FR" sz="2400" dirty="0"/>
          </a:p>
        </p:txBody>
      </p:sp>
    </p:spTree>
    <p:extLst>
      <p:ext uri="{BB962C8B-B14F-4D97-AF65-F5344CB8AC3E}">
        <p14:creationId xmlns:p14="http://schemas.microsoft.com/office/powerpoint/2010/main" val="1088847689"/>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917</Words>
  <Application>Microsoft Office PowerPoint</Application>
  <PresentationFormat>Affichage à l'écran (4:3)</PresentationFormat>
  <Paragraphs>186</Paragraphs>
  <Slides>21</Slides>
  <Notes>5</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21</vt:i4>
      </vt:variant>
    </vt:vector>
  </HeadingPairs>
  <TitlesOfParts>
    <vt:vector size="28" baseType="lpstr">
      <vt:lpstr>ＭＳ Ｐゴシック</vt:lpstr>
      <vt:lpstr>Arial</vt:lpstr>
      <vt:lpstr>ArialMT</vt:lpstr>
      <vt:lpstr>Calibri</vt:lpstr>
      <vt:lpstr>Times New Roman</vt:lpstr>
      <vt:lpstr>Wingdings</vt:lpstr>
      <vt:lpstr>Thème Office</vt:lpstr>
      <vt:lpstr>Répétitoire MMed3 2019</vt:lpstr>
      <vt:lpstr>Psychiatrie</vt:lpstr>
      <vt:lpstr>Schizophrénie</vt:lpstr>
      <vt:lpstr>Schizophrénie</vt:lpstr>
      <vt:lpstr>Schizophrénie</vt:lpstr>
      <vt:lpstr>Symptômes dits «positifs»</vt:lpstr>
      <vt:lpstr>Symptômes dits «négatifs»</vt:lpstr>
      <vt:lpstr>Troubles des fonctions cognitives (essentiellement préfrontales)</vt:lpstr>
      <vt:lpstr>Symptômes de base</vt:lpstr>
      <vt:lpstr>Schizophrénie</vt:lpstr>
      <vt:lpstr>Présentation PowerPoint</vt:lpstr>
      <vt:lpstr>Schizophrénie</vt:lpstr>
      <vt:lpstr>Aspects légaux</vt:lpstr>
      <vt:lpstr>PLAFA</vt:lpstr>
      <vt:lpstr>Aspects légaux</vt:lpstr>
      <vt:lpstr>Aspects légaux</vt:lpstr>
      <vt:lpstr>Aspects légaux</vt:lpstr>
      <vt:lpstr>Suicide</vt:lpstr>
      <vt:lpstr>Evaluation du potentiel suicidaire</vt:lpstr>
      <vt:lpstr>Risque</vt:lpstr>
      <vt:lpstr>Risque</vt:lpstr>
    </vt:vector>
  </TitlesOfParts>
  <Company>CHUV | Centre hospitalier universitaire vaudois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Répétitoire finalistes 2011</dc:title>
  <dc:creator>bovetp</dc:creator>
  <cp:lastModifiedBy>Conus Philippe</cp:lastModifiedBy>
  <cp:revision>108</cp:revision>
  <dcterms:created xsi:type="dcterms:W3CDTF">2011-05-27T07:43:38Z</dcterms:created>
  <dcterms:modified xsi:type="dcterms:W3CDTF">2019-05-22T07:05:37Z</dcterms:modified>
</cp:coreProperties>
</file>