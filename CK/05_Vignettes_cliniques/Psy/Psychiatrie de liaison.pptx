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58" r:id="rId3"/>
    <p:sldId id="275" r:id="rId4"/>
    <p:sldId id="259" r:id="rId5"/>
    <p:sldId id="276" r:id="rId6"/>
    <p:sldId id="260" r:id="rId7"/>
    <p:sldId id="277" r:id="rId8"/>
    <p:sldId id="261" r:id="rId9"/>
    <p:sldId id="278" r:id="rId10"/>
    <p:sldId id="262" r:id="rId11"/>
    <p:sldId id="279" r:id="rId12"/>
    <p:sldId id="263" r:id="rId13"/>
    <p:sldId id="265" r:id="rId14"/>
    <p:sldId id="280" r:id="rId15"/>
    <p:sldId id="266" r:id="rId16"/>
    <p:sldId id="281" r:id="rId17"/>
    <p:sldId id="267" r:id="rId18"/>
    <p:sldId id="282" r:id="rId19"/>
    <p:sldId id="268" r:id="rId20"/>
    <p:sldId id="269" r:id="rId21"/>
    <p:sldId id="283" r:id="rId22"/>
    <p:sldId id="270" r:id="rId23"/>
    <p:sldId id="284" r:id="rId24"/>
    <p:sldId id="271" r:id="rId25"/>
    <p:sldId id="285" r:id="rId26"/>
    <p:sldId id="272" r:id="rId27"/>
    <p:sldId id="286" r:id="rId28"/>
    <p:sldId id="273" r:id="rId29"/>
    <p:sldId id="287" r:id="rId30"/>
    <p:sldId id="274" r:id="rId31"/>
    <p:sldId id="288" r:id="rId3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CH"/>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CH"/>
          </a:p>
        </p:txBody>
      </p:sp>
      <p:sp>
        <p:nvSpPr>
          <p:cNvPr id="4" name="Espace réservé de la date 3"/>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CH"/>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e la date 3"/>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CH"/>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CH"/>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5" name="Espace réservé de la date 4"/>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6" name="Espace réservé du pied de page 5"/>
          <p:cNvSpPr>
            <a:spLocks noGrp="1"/>
          </p:cNvSpPr>
          <p:nvPr>
            <p:ph type="ftr" sz="quarter" idx="11"/>
          </p:nvPr>
        </p:nvSpPr>
        <p:spPr/>
        <p:txBody>
          <a:bodyPr/>
          <a:lstStyle/>
          <a:p>
            <a:endParaRPr lang="fr-CH"/>
          </a:p>
        </p:txBody>
      </p:sp>
      <p:sp>
        <p:nvSpPr>
          <p:cNvPr id="7" name="Espace réservé du numéro de diapositive 6"/>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CH"/>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7" name="Espace réservé de la date 6"/>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8" name="Espace réservé du pied de page 7"/>
          <p:cNvSpPr>
            <a:spLocks noGrp="1"/>
          </p:cNvSpPr>
          <p:nvPr>
            <p:ph type="ftr" sz="quarter" idx="11"/>
          </p:nvPr>
        </p:nvSpPr>
        <p:spPr/>
        <p:txBody>
          <a:bodyPr/>
          <a:lstStyle/>
          <a:p>
            <a:endParaRPr lang="fr-CH"/>
          </a:p>
        </p:txBody>
      </p:sp>
      <p:sp>
        <p:nvSpPr>
          <p:cNvPr id="9" name="Espace réservé du numéro de diapositive 8"/>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CH"/>
          </a:p>
        </p:txBody>
      </p:sp>
      <p:sp>
        <p:nvSpPr>
          <p:cNvPr id="3" name="Espace réservé de la date 2"/>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4" name="Espace réservé du pied de page 3"/>
          <p:cNvSpPr>
            <a:spLocks noGrp="1"/>
          </p:cNvSpPr>
          <p:nvPr>
            <p:ph type="ftr" sz="quarter" idx="11"/>
          </p:nvPr>
        </p:nvSpPr>
        <p:spPr/>
        <p:txBody>
          <a:bodyPr/>
          <a:lstStyle/>
          <a:p>
            <a:endParaRPr lang="fr-CH"/>
          </a:p>
        </p:txBody>
      </p:sp>
      <p:sp>
        <p:nvSpPr>
          <p:cNvPr id="5" name="Espace réservé du numéro de diapositive 4"/>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3" name="Espace réservé du pied de page 2"/>
          <p:cNvSpPr>
            <a:spLocks noGrp="1"/>
          </p:cNvSpPr>
          <p:nvPr>
            <p:ph type="ftr" sz="quarter" idx="11"/>
          </p:nvPr>
        </p:nvSpPr>
        <p:spPr/>
        <p:txBody>
          <a:bodyPr/>
          <a:lstStyle/>
          <a:p>
            <a:endParaRPr lang="fr-CH"/>
          </a:p>
        </p:txBody>
      </p:sp>
      <p:sp>
        <p:nvSpPr>
          <p:cNvPr id="4" name="Espace réservé du numéro de diapositive 3"/>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CH"/>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6" name="Espace réservé du pied de page 5"/>
          <p:cNvSpPr>
            <a:spLocks noGrp="1"/>
          </p:cNvSpPr>
          <p:nvPr>
            <p:ph type="ftr" sz="quarter" idx="11"/>
          </p:nvPr>
        </p:nvSpPr>
        <p:spPr/>
        <p:txBody>
          <a:bodyPr/>
          <a:lstStyle/>
          <a:p>
            <a:endParaRPr lang="fr-CH"/>
          </a:p>
        </p:txBody>
      </p:sp>
      <p:sp>
        <p:nvSpPr>
          <p:cNvPr id="7" name="Espace réservé du numéro de diapositive 6"/>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CH"/>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6" name="Espace réservé du pied de page 5"/>
          <p:cNvSpPr>
            <a:spLocks noGrp="1"/>
          </p:cNvSpPr>
          <p:nvPr>
            <p:ph type="ftr" sz="quarter" idx="11"/>
          </p:nvPr>
        </p:nvSpPr>
        <p:spPr/>
        <p:txBody>
          <a:bodyPr/>
          <a:lstStyle/>
          <a:p>
            <a:endParaRPr lang="fr-CH"/>
          </a:p>
        </p:txBody>
      </p:sp>
      <p:sp>
        <p:nvSpPr>
          <p:cNvPr id="7" name="Espace réservé du numéro de diapositive 6"/>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CH"/>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e la date 3"/>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CH"/>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e la date 3"/>
          <p:cNvSpPr>
            <a:spLocks noGrp="1"/>
          </p:cNvSpPr>
          <p:nvPr>
            <p:ph type="dt" sz="half" idx="10"/>
          </p:nvPr>
        </p:nvSpPr>
        <p:spPr/>
        <p:txBody>
          <a:bodyPr/>
          <a:lstStyle/>
          <a:p>
            <a:fld id="{9F9FA0B1-E239-40D2-BF4C-0A6AB4F1B37B}" type="datetimeFigureOut">
              <a:rPr lang="fr-CH" smtClean="0"/>
              <a:pPr/>
              <a:t>11.06.2014</a:t>
            </a:fld>
            <a:endParaRPr lang="fr-CH"/>
          </a:p>
        </p:txBody>
      </p:sp>
      <p:sp>
        <p:nvSpPr>
          <p:cNvPr id="5" name="Espace réservé du pied de page 4"/>
          <p:cNvSpPr>
            <a:spLocks noGrp="1"/>
          </p:cNvSpPr>
          <p:nvPr>
            <p:ph type="ftr" sz="quarter" idx="11"/>
          </p:nvPr>
        </p:nvSpPr>
        <p:spPr/>
        <p:txBody>
          <a:bodyPr/>
          <a:lstStyle/>
          <a:p>
            <a:endParaRPr lang="fr-CH"/>
          </a:p>
        </p:txBody>
      </p:sp>
      <p:sp>
        <p:nvSpPr>
          <p:cNvPr id="6" name="Espace réservé du numéro de diapositive 5"/>
          <p:cNvSpPr>
            <a:spLocks noGrp="1"/>
          </p:cNvSpPr>
          <p:nvPr>
            <p:ph type="sldNum" sz="quarter" idx="12"/>
          </p:nvPr>
        </p:nvSpPr>
        <p:spPr/>
        <p:txBody>
          <a:bodyPr/>
          <a:lstStyle/>
          <a:p>
            <a:fld id="{A5A682E0-EF20-4D57-AD3F-22ABC23D7B47}" type="slidenum">
              <a:rPr lang="fr-CH" smtClean="0"/>
              <a:pPr/>
              <a:t>‹N°›</a:t>
            </a:fld>
            <a:endParaRPr lang="fr-C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CH"/>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H"/>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FA0B1-E239-40D2-BF4C-0A6AB4F1B37B}" type="datetimeFigureOut">
              <a:rPr lang="fr-CH" smtClean="0"/>
              <a:pPr/>
              <a:t>11.06.2014</a:t>
            </a:fld>
            <a:endParaRPr lang="fr-CH"/>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A682E0-EF20-4D57-AD3F-22ABC23D7B47}" type="slidenum">
              <a:rPr lang="fr-CH" smtClean="0"/>
              <a:pPr/>
              <a:t>‹N°›</a:t>
            </a:fld>
            <a:endParaRPr lang="fr-CH"/>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CH" dirty="0" err="1" smtClean="0"/>
              <a:t>Répétitoire</a:t>
            </a:r>
            <a:r>
              <a:rPr lang="fr-CH" dirty="0" smtClean="0"/>
              <a:t> finalistes </a:t>
            </a:r>
            <a:r>
              <a:rPr lang="fr-CH" dirty="0" smtClean="0"/>
              <a:t>2014 </a:t>
            </a:r>
            <a:r>
              <a:rPr lang="fr-CH" dirty="0" smtClean="0"/>
              <a:t>: liaison</a:t>
            </a:r>
            <a:endParaRPr lang="fr-CH" dirty="0"/>
          </a:p>
        </p:txBody>
      </p:sp>
      <p:sp>
        <p:nvSpPr>
          <p:cNvPr id="3" name="Sous-titre 2"/>
          <p:cNvSpPr>
            <a:spLocks noGrp="1"/>
          </p:cNvSpPr>
          <p:nvPr>
            <p:ph type="subTitle" idx="1"/>
          </p:nvPr>
        </p:nvSpPr>
        <p:spPr/>
        <p:txBody>
          <a:bodyPr>
            <a:normAutofit fontScale="70000" lnSpcReduction="20000"/>
          </a:bodyPr>
          <a:lstStyle/>
          <a:p>
            <a:r>
              <a:rPr lang="fr-CH" dirty="0" smtClean="0"/>
              <a:t>Troubles </a:t>
            </a:r>
            <a:r>
              <a:rPr lang="fr-CH" dirty="0" err="1" smtClean="0"/>
              <a:t>somatoformes</a:t>
            </a:r>
            <a:r>
              <a:rPr lang="fr-CH" dirty="0" smtClean="0"/>
              <a:t>, alimentaires, sexuels et de l’identité de genre, du sommeil, abus de substances non-</a:t>
            </a:r>
            <a:r>
              <a:rPr lang="fr-CH" dirty="0" err="1" smtClean="0"/>
              <a:t>addictives</a:t>
            </a:r>
            <a:endParaRPr lang="fr-CH" dirty="0" smtClean="0"/>
          </a:p>
          <a:p>
            <a:r>
              <a:rPr lang="fr-CH" dirty="0" smtClean="0"/>
              <a:t>15 juin, 10h00-11h00</a:t>
            </a:r>
          </a:p>
          <a:p>
            <a:r>
              <a:rPr lang="fr-CH" dirty="0" smtClean="0"/>
              <a:t>Dr M. </a:t>
            </a:r>
            <a:r>
              <a:rPr lang="fr-CH" dirty="0" err="1" smtClean="0"/>
              <a:t>Saraga</a:t>
            </a:r>
            <a:endParaRPr lang="fr-CH"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1600" y="1628800"/>
            <a:ext cx="7200800" cy="3139321"/>
          </a:xfrm>
          <a:prstGeom prst="rect">
            <a:avLst/>
          </a:prstGeom>
        </p:spPr>
        <p:txBody>
          <a:bodyPr wrap="square">
            <a:spAutoFit/>
          </a:bodyPr>
          <a:lstStyle/>
          <a:p>
            <a:r>
              <a:rPr lang="fr-CH" dirty="0" smtClean="0"/>
              <a:t>Parmi les propositions suivantes concernant l’abus de laxatifs, laquelle est </a:t>
            </a:r>
            <a:r>
              <a:rPr lang="fr-CH" b="1" dirty="0" smtClean="0"/>
              <a:t>fausse</a:t>
            </a:r>
            <a:r>
              <a:rPr lang="fr-CH" dirty="0" smtClean="0"/>
              <a:t>?</a:t>
            </a:r>
          </a:p>
          <a:p>
            <a:endParaRPr lang="fr-CH" dirty="0" smtClean="0"/>
          </a:p>
          <a:p>
            <a:pPr marL="800100" lvl="1" indent="-342900">
              <a:buFont typeface="+mj-lt"/>
              <a:buAutoNum type="alphaUcPeriod"/>
            </a:pPr>
            <a:r>
              <a:rPr lang="fr-CH" dirty="0" smtClean="0"/>
              <a:t>Peut être le symptôme d’un trouble psychiatrique</a:t>
            </a:r>
          </a:p>
          <a:p>
            <a:pPr marL="800100" lvl="1" indent="-342900">
              <a:buFont typeface="+mj-lt"/>
              <a:buAutoNum type="alphaUcPeriod"/>
            </a:pPr>
            <a:r>
              <a:rPr lang="fr-CH" dirty="0" smtClean="0"/>
              <a:t>Peut être le symptôme d’un trouble du comportement alimentaire</a:t>
            </a:r>
          </a:p>
          <a:p>
            <a:pPr marL="800100" lvl="1" indent="-342900">
              <a:buFont typeface="+mj-lt"/>
              <a:buAutoNum type="alphaUcPeriod"/>
            </a:pPr>
            <a:r>
              <a:rPr lang="fr-CH" dirty="0" smtClean="0"/>
              <a:t>ne nécessite en principe pas une prise en charge médicale</a:t>
            </a:r>
          </a:p>
          <a:p>
            <a:pPr marL="800100" lvl="1" indent="-342900">
              <a:buFont typeface="+mj-lt"/>
              <a:buAutoNum type="alphaUcPeriod"/>
            </a:pPr>
            <a:r>
              <a:rPr lang="fr-CH" dirty="0" smtClean="0"/>
              <a:t>Peut être une complication de la prise de médicaments </a:t>
            </a:r>
            <a:r>
              <a:rPr lang="fr-CH" dirty="0" err="1" smtClean="0"/>
              <a:t>anticholinergiques</a:t>
            </a:r>
            <a:endParaRPr lang="fr-CH" dirty="0" smtClean="0"/>
          </a:p>
          <a:p>
            <a:pPr marL="800100" lvl="1" indent="-342900">
              <a:buFont typeface="+mj-lt"/>
              <a:buAutoNum type="alphaUcPeriod"/>
            </a:pPr>
            <a:r>
              <a:rPr lang="fr-CH" dirty="0" smtClean="0"/>
              <a:t>Est rarement mentionné spontanément par les patients</a:t>
            </a:r>
          </a:p>
          <a:p>
            <a:endParaRPr lang="fr-CH" dirty="0" smtClean="0"/>
          </a:p>
          <a:p>
            <a:endParaRPr lang="fr-CH" dirty="0" smtClean="0"/>
          </a:p>
        </p:txBody>
      </p:sp>
      <p:sp>
        <p:nvSpPr>
          <p:cNvPr id="3" name="Rectangle 2"/>
          <p:cNvSpPr/>
          <p:nvPr/>
        </p:nvSpPr>
        <p:spPr>
          <a:xfrm>
            <a:off x="1331640" y="2996952"/>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7624" y="692696"/>
            <a:ext cx="6984776" cy="5262979"/>
          </a:xfrm>
          <a:prstGeom prst="rect">
            <a:avLst/>
          </a:prstGeom>
        </p:spPr>
        <p:txBody>
          <a:bodyPr wrap="square">
            <a:spAutoFit/>
          </a:bodyPr>
          <a:lstStyle/>
          <a:p>
            <a:r>
              <a:rPr lang="fr-CH" sz="2400" dirty="0" smtClean="0"/>
              <a:t>L’abus de laxatifs peut être associé à un TCA mais aussi à des troubles à caractères obsessionnels, </a:t>
            </a:r>
            <a:r>
              <a:rPr lang="fr-CH" sz="2400" dirty="0" err="1" smtClean="0"/>
              <a:t>somatoformes</a:t>
            </a:r>
            <a:r>
              <a:rPr lang="fr-CH" sz="2400" dirty="0" smtClean="0"/>
              <a:t> ou délirants.</a:t>
            </a:r>
          </a:p>
          <a:p>
            <a:endParaRPr lang="fr-CH" sz="2400" dirty="0" smtClean="0"/>
          </a:p>
          <a:p>
            <a:r>
              <a:rPr lang="fr-CH" sz="2400" dirty="0" smtClean="0"/>
              <a:t>Il peut aussi survenir de manière isolée, avec l’installation d’une dépendance (constipation à l’arrêt).</a:t>
            </a:r>
          </a:p>
          <a:p>
            <a:endParaRPr lang="fr-CH" sz="2400" dirty="0" smtClean="0"/>
          </a:p>
          <a:p>
            <a:r>
              <a:rPr lang="fr-CH" sz="2400" dirty="0" smtClean="0"/>
              <a:t>Il nécessite souvent une prise en charge médicale, notamment en raison des complications du sevrage (mais aussi des </a:t>
            </a:r>
            <a:r>
              <a:rPr lang="fr-CH" sz="2400" dirty="0" err="1" smtClean="0"/>
              <a:t>co</a:t>
            </a:r>
            <a:r>
              <a:rPr lang="fr-CH" sz="2400" dirty="0" smtClean="0"/>
              <a:t>-morbidités psychiatriques fréquentes).</a:t>
            </a:r>
          </a:p>
          <a:p>
            <a:endParaRPr lang="fr-CH" sz="2400" dirty="0" smtClean="0"/>
          </a:p>
          <a:p>
            <a:r>
              <a:rPr lang="fr-CH" sz="2400" dirty="0" smtClean="0"/>
              <a:t>Les patients mentionnent rarement ce problème en consultation.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1600" y="1124744"/>
            <a:ext cx="7200800" cy="3970318"/>
          </a:xfrm>
          <a:prstGeom prst="rect">
            <a:avLst/>
          </a:prstGeom>
        </p:spPr>
        <p:txBody>
          <a:bodyPr wrap="square">
            <a:spAutoFit/>
          </a:bodyPr>
          <a:lstStyle/>
          <a:p>
            <a:r>
              <a:rPr lang="fr-CH" dirty="0" smtClean="0"/>
              <a:t>Un homme âgé de 53 ans, marié, consulte en se plaignant d’une « baisse de la libido ». A l’anamnèse, il apparaît qu’il a moins de désir sexuel et des troubles de l’érection. Il a récemment changé de poste de travail. Son épouse est décrite comme triste, repliée sur elle-même, depuis le départ de leur fille unique. Il présente un léger excès pondéral (BMI 29) et une légère hypertension (145/93). Quelle est la première mesure à prendre ?</a:t>
            </a:r>
          </a:p>
          <a:p>
            <a:endParaRPr lang="fr-CH" dirty="0" smtClean="0"/>
          </a:p>
          <a:p>
            <a:pPr marL="800100" lvl="1" indent="-342900">
              <a:buFont typeface="+mj-lt"/>
              <a:buAutoNum type="alphaUcPeriod"/>
            </a:pPr>
            <a:r>
              <a:rPr lang="fr-CH" dirty="0" smtClean="0"/>
              <a:t>Une consultation urologique</a:t>
            </a:r>
          </a:p>
          <a:p>
            <a:pPr marL="800100" lvl="1" indent="-342900">
              <a:buFont typeface="+mj-lt"/>
              <a:buAutoNum type="alphaUcPeriod"/>
            </a:pPr>
            <a:r>
              <a:rPr lang="fr-CH" dirty="0" smtClean="0"/>
              <a:t>Une investigation psychopathologique à la recherche d’un trouble de l’humeur ou d’un trouble anxieux sous-jacent</a:t>
            </a:r>
          </a:p>
          <a:p>
            <a:pPr marL="800100" lvl="1" indent="-342900">
              <a:buFont typeface="+mj-lt"/>
              <a:buAutoNum type="alphaUcPeriod"/>
            </a:pPr>
            <a:r>
              <a:rPr lang="fr-CH" dirty="0" smtClean="0"/>
              <a:t>Un entretien de couple</a:t>
            </a:r>
          </a:p>
          <a:p>
            <a:pPr marL="800100" lvl="1" indent="-342900">
              <a:buFont typeface="+mj-lt"/>
              <a:buAutoNum type="alphaUcPeriod"/>
            </a:pPr>
            <a:r>
              <a:rPr lang="fr-CH" dirty="0" smtClean="0"/>
              <a:t>Un entretien avec l’épouse</a:t>
            </a:r>
          </a:p>
          <a:p>
            <a:pPr marL="800100" lvl="1" indent="-342900">
              <a:buFont typeface="+mj-lt"/>
              <a:buAutoNum type="alphaUcPeriod"/>
            </a:pPr>
            <a:r>
              <a:rPr lang="fr-CH" dirty="0" smtClean="0"/>
              <a:t>La prescription de </a:t>
            </a:r>
            <a:r>
              <a:rPr lang="fr-CH" dirty="0" err="1" smtClean="0"/>
              <a:t>sildafénil</a:t>
            </a:r>
            <a:endParaRPr lang="fr-CH" dirty="0" smtClean="0"/>
          </a:p>
          <a:p>
            <a:pPr lvl="0"/>
            <a:endParaRPr lang="fr-CH" dirty="0" smtClean="0"/>
          </a:p>
        </p:txBody>
      </p:sp>
      <p:sp>
        <p:nvSpPr>
          <p:cNvPr id="3" name="Rectangle 2"/>
          <p:cNvSpPr/>
          <p:nvPr/>
        </p:nvSpPr>
        <p:spPr>
          <a:xfrm>
            <a:off x="1331640" y="3356992"/>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9672" y="1124744"/>
            <a:ext cx="5670376" cy="4708981"/>
          </a:xfrm>
          <a:prstGeom prst="rect">
            <a:avLst/>
          </a:prstGeom>
        </p:spPr>
        <p:txBody>
          <a:bodyPr wrap="square">
            <a:spAutoFit/>
          </a:bodyPr>
          <a:lstStyle/>
          <a:p>
            <a:r>
              <a:rPr lang="fr-CH" sz="2000" dirty="0" smtClean="0"/>
              <a:t>La baisse de libido peut avoir dans ce cas une composante organique, psycho-sociale ou les deux. Quoi qu’il en soit, il est essentiel de rechercher un trouble anxieux ou dépressif qui pourrait contribuer, ou découler du problème. </a:t>
            </a:r>
          </a:p>
          <a:p>
            <a:endParaRPr lang="fr-CH" sz="2000" dirty="0" smtClean="0"/>
          </a:p>
          <a:p>
            <a:r>
              <a:rPr lang="fr-CH" sz="2000" dirty="0" smtClean="0"/>
              <a:t>Une consultation urologique peut être indiquée si les premières mesures proposées (après l’évaluation psychopathologique et une anamnèse  et un </a:t>
            </a:r>
            <a:r>
              <a:rPr lang="fr-CH" sz="2000" dirty="0" err="1" smtClean="0"/>
              <a:t>status</a:t>
            </a:r>
            <a:r>
              <a:rPr lang="fr-CH" sz="2000" dirty="0" smtClean="0"/>
              <a:t> somatique plus fouillés) échouent, ou si l’investigation somatique révèle un signe inquiétant.</a:t>
            </a:r>
          </a:p>
          <a:p>
            <a:endParaRPr lang="fr-CH" sz="2000" dirty="0" smtClean="0"/>
          </a:p>
          <a:p>
            <a:r>
              <a:rPr lang="fr-CH" sz="2000" dirty="0" smtClean="0"/>
              <a:t>Un entretien de couple peut être envisagé, de même qu’un entretien avec l’épouse ou une prescription, mais c’est prématuré à ce stade.</a:t>
            </a:r>
            <a:endParaRPr lang="fr-CH"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1600" y="1443841"/>
            <a:ext cx="7200800" cy="4247317"/>
          </a:xfrm>
          <a:prstGeom prst="rect">
            <a:avLst/>
          </a:prstGeom>
        </p:spPr>
        <p:txBody>
          <a:bodyPr wrap="square">
            <a:spAutoFit/>
          </a:bodyPr>
          <a:lstStyle/>
          <a:p>
            <a:r>
              <a:rPr lang="fr-CH" dirty="0" smtClean="0"/>
              <a:t>Un homme de 24 ans, sans antécédents médicaux connus, est hospitalisé en urgence pour une dyspnée aiguë dont les investigations sont négatives. Il rapporte quelques épisodes similaires mais moins intenses ces derniers mois. Le diagnostic le plus probable est une attaque de panique. Quelle attitude vous paraît la plus appropriée de la part du médecin des urgences ?</a:t>
            </a:r>
          </a:p>
          <a:p>
            <a:endParaRPr lang="fr-CH" dirty="0" smtClean="0"/>
          </a:p>
          <a:p>
            <a:pPr marL="800100" lvl="1" indent="-342900">
              <a:buFont typeface="+mj-lt"/>
              <a:buAutoNum type="alphaUcPeriod"/>
            </a:pPr>
            <a:r>
              <a:rPr lang="fr-CH" dirty="0" smtClean="0"/>
              <a:t>Mentionner le diagnostic de trouble panique et </a:t>
            </a:r>
            <a:r>
              <a:rPr lang="fr-CH" dirty="0" smtClean="0"/>
              <a:t>proposer de </a:t>
            </a:r>
            <a:r>
              <a:rPr lang="fr-CH" dirty="0" smtClean="0"/>
              <a:t>consulter un généraliste ou un </a:t>
            </a:r>
            <a:r>
              <a:rPr lang="fr-CH" dirty="0" smtClean="0"/>
              <a:t>psychiatre</a:t>
            </a:r>
            <a:endParaRPr lang="fr-CH" dirty="0" smtClean="0"/>
          </a:p>
          <a:p>
            <a:pPr marL="800100" lvl="1" indent="-342900">
              <a:buFont typeface="+mj-lt"/>
              <a:buAutoNum type="alphaUcPeriod"/>
            </a:pPr>
            <a:r>
              <a:rPr lang="fr-CH" dirty="0" smtClean="0"/>
              <a:t>Rassurer le patient et </a:t>
            </a:r>
            <a:r>
              <a:rPr lang="fr-CH" dirty="0" err="1" smtClean="0"/>
              <a:t>roposer</a:t>
            </a:r>
            <a:r>
              <a:rPr lang="fr-CH" dirty="0" smtClean="0"/>
              <a:t> </a:t>
            </a:r>
            <a:r>
              <a:rPr lang="fr-CH" dirty="0" smtClean="0"/>
              <a:t>un rendez-vous de suivi chez un généraliste pour s’assurer que tout va bien</a:t>
            </a:r>
          </a:p>
          <a:p>
            <a:pPr marL="800100" lvl="1" indent="-342900">
              <a:buFont typeface="+mj-lt"/>
              <a:buAutoNum type="alphaUcPeriod"/>
            </a:pPr>
            <a:r>
              <a:rPr lang="fr-CH" dirty="0" smtClean="0"/>
              <a:t>Rassurer le patient et le renvoyer chez lui</a:t>
            </a:r>
          </a:p>
          <a:p>
            <a:pPr marL="800100" lvl="1" indent="-342900">
              <a:buFont typeface="+mj-lt"/>
              <a:buAutoNum type="alphaUcPeriod"/>
            </a:pPr>
            <a:r>
              <a:rPr lang="fr-CH" dirty="0" smtClean="0"/>
              <a:t>Faire une analyse urinaire à la recherche de cocaïne</a:t>
            </a:r>
          </a:p>
          <a:p>
            <a:pPr marL="800100" lvl="1" indent="-342900">
              <a:buFont typeface="+mj-lt"/>
              <a:buAutoNum type="alphaUcPeriod"/>
            </a:pPr>
            <a:r>
              <a:rPr lang="fr-CH" dirty="0" smtClean="0"/>
              <a:t>Demander un avis psychiatrique aux urgences</a:t>
            </a:r>
          </a:p>
          <a:p>
            <a:pPr lvl="0"/>
            <a:endParaRPr lang="fr-CH" dirty="0" smtClean="0"/>
          </a:p>
        </p:txBody>
      </p:sp>
      <p:sp>
        <p:nvSpPr>
          <p:cNvPr id="3" name="Rectangle 2"/>
          <p:cNvSpPr/>
          <p:nvPr/>
        </p:nvSpPr>
        <p:spPr>
          <a:xfrm>
            <a:off x="1331640" y="3356992"/>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7704" y="1124744"/>
            <a:ext cx="5688632" cy="4401205"/>
          </a:xfrm>
          <a:prstGeom prst="rect">
            <a:avLst/>
          </a:prstGeom>
        </p:spPr>
        <p:txBody>
          <a:bodyPr wrap="square">
            <a:spAutoFit/>
          </a:bodyPr>
          <a:lstStyle/>
          <a:p>
            <a:r>
              <a:rPr lang="fr-CH" sz="2000" dirty="0" smtClean="0"/>
              <a:t>Tout ne va pas bien pour ce monsieur présentant probablement un trouble panique, dont l’évolution peut être très défavorable sans prise en charge (même si ce n’est pas systématiquement le cas). Le rassurer est ainsi peu à propos.  La cocaïne peut provoquer des attaques de panique, mais la recherche urinaire n’apporte rien sans une discussion préalable avec le patient.</a:t>
            </a:r>
          </a:p>
          <a:p>
            <a:endParaRPr lang="fr-CH" sz="2000" dirty="0" smtClean="0"/>
          </a:p>
          <a:p>
            <a:r>
              <a:rPr lang="fr-CH" sz="2000" dirty="0" smtClean="0"/>
              <a:t>Demander un avis psychiatrique en urgence est possible, mais pas nécessairement indispensable ni très utile dans l’urgence. L’essentiel est d’informer le patient sur le diagnostic et les possibilités de prise en charge.</a:t>
            </a:r>
            <a:endParaRPr lang="fr-CH"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1600" y="908720"/>
            <a:ext cx="7200800" cy="5078313"/>
          </a:xfrm>
          <a:prstGeom prst="rect">
            <a:avLst/>
          </a:prstGeom>
        </p:spPr>
        <p:txBody>
          <a:bodyPr wrap="square">
            <a:spAutoFit/>
          </a:bodyPr>
          <a:lstStyle/>
          <a:p>
            <a:r>
              <a:rPr lang="fr-CH" dirty="0" smtClean="0"/>
              <a:t>Une femme de 67 ans, atteinte de carcinome mammaire métastatique, est hospitalisée en raison de vomissements et de troubles du comportement à domicile (désorientation, moments d’agitation, agressivité fluctuante), d’apparition récente. Après deux jours de réhydratation et d’un traitement antiémétique, l’évolution est favorable. La patiente réclame son retour à domicile mais le mari apparaît très angoissé de cette perspective. Quelle est l’attitude la plus appropriée?</a:t>
            </a:r>
          </a:p>
          <a:p>
            <a:endParaRPr lang="fr-CH" dirty="0" smtClean="0"/>
          </a:p>
          <a:p>
            <a:pPr marL="800100" lvl="1" indent="-342900">
              <a:buFont typeface="+mj-lt"/>
              <a:buAutoNum type="alphaUcPeriod"/>
            </a:pPr>
            <a:r>
              <a:rPr lang="fr-CH" dirty="0" smtClean="0"/>
              <a:t>Expliquer au mari que la patiente est libre de ses décisions et qu’elle va donc quitter l’hôpital</a:t>
            </a:r>
          </a:p>
          <a:p>
            <a:pPr marL="800100" lvl="1" indent="-342900">
              <a:buFont typeface="+mj-lt"/>
              <a:buAutoNum type="alphaUcPeriod"/>
            </a:pPr>
            <a:r>
              <a:rPr lang="fr-CH" dirty="0" smtClean="0"/>
              <a:t>Expliquer à la patiente que son mari paraît angoissé et qu’il serait préférable qu’elle reste ou accepte un transfert en EMS.</a:t>
            </a:r>
          </a:p>
          <a:p>
            <a:pPr marL="800100" lvl="1" indent="-342900">
              <a:buFont typeface="+mj-lt"/>
              <a:buAutoNum type="alphaUcPeriod"/>
            </a:pPr>
            <a:r>
              <a:rPr lang="fr-CH" dirty="0" smtClean="0"/>
              <a:t>Solliciter l’unité d’éthique clinique</a:t>
            </a:r>
          </a:p>
          <a:p>
            <a:pPr marL="800100" lvl="1" indent="-342900">
              <a:buFont typeface="+mj-lt"/>
              <a:buAutoNum type="alphaUcPeriod"/>
            </a:pPr>
            <a:r>
              <a:rPr lang="fr-CH" dirty="0" smtClean="0"/>
              <a:t>Demander un avis oncologique quant à l’opportunité d’une imagerie cérébrale à la recherche d’une lésion éventuellement traitable par radio- ou </a:t>
            </a:r>
            <a:r>
              <a:rPr lang="fr-CH" dirty="0" err="1" smtClean="0"/>
              <a:t>chiomiothérapie</a:t>
            </a:r>
            <a:endParaRPr lang="fr-CH" dirty="0" smtClean="0"/>
          </a:p>
          <a:p>
            <a:pPr marL="800100" lvl="1" indent="-342900">
              <a:buFont typeface="+mj-lt"/>
              <a:buAutoNum type="alphaUcPeriod"/>
            </a:pPr>
            <a:r>
              <a:rPr lang="fr-CH" dirty="0" smtClean="0"/>
              <a:t>Prescrire un antipsychotique atypique à faible dose</a:t>
            </a:r>
          </a:p>
          <a:p>
            <a:pPr lvl="0"/>
            <a:endParaRPr lang="fr-CH" dirty="0" smtClean="0"/>
          </a:p>
        </p:txBody>
      </p:sp>
      <p:sp>
        <p:nvSpPr>
          <p:cNvPr id="3" name="Rectangle 2"/>
          <p:cNvSpPr/>
          <p:nvPr/>
        </p:nvSpPr>
        <p:spPr>
          <a:xfrm>
            <a:off x="1331640" y="4581128"/>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556792"/>
            <a:ext cx="5022304" cy="3785652"/>
          </a:xfrm>
          <a:prstGeom prst="rect">
            <a:avLst/>
          </a:prstGeom>
        </p:spPr>
        <p:txBody>
          <a:bodyPr wrap="square">
            <a:spAutoFit/>
          </a:bodyPr>
          <a:lstStyle/>
          <a:p>
            <a:r>
              <a:rPr lang="fr-CH" sz="2000" dirty="0" smtClean="0"/>
              <a:t>Le tableau présenté peut être lié à une métastase cérébrale de la maladie cancéreuse. On peut envisager ici une intervention à visée palliative, qui pourrait éventuellement permettre un retour à domicile. Cet aspect peut jouer un rôle essentiel dans les discussions à venir et devrait donc être abordé.</a:t>
            </a:r>
          </a:p>
          <a:p>
            <a:endParaRPr lang="fr-CH" sz="2000" dirty="0" smtClean="0"/>
          </a:p>
          <a:p>
            <a:r>
              <a:rPr lang="fr-CH" sz="2000" dirty="0" smtClean="0"/>
              <a:t>La prescription d’un antipsychotique pourrait se justifier une fois les origines de l’épisode d’agitation élucidées.</a:t>
            </a:r>
            <a:endParaRPr lang="fr-CH"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971600" y="2199347"/>
            <a:ext cx="7200800"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Quelle est la catégorie la plus à risque de suicide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Femmes entre 15 et 35 ans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Femmes divorcées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Hommes jamais mariés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Femmes avec activité professionnelle</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Hommes de plus de 65 ans</a:t>
            </a:r>
          </a:p>
          <a:p>
            <a:pPr marL="0" marR="0" lvl="0" indent="0" algn="l" defTabSz="914400" rtl="0" eaLnBrk="0" fontAlgn="base" latinLnBrk="0" hangingPunct="0">
              <a:lnSpc>
                <a:spcPct val="100000"/>
              </a:lnSpc>
              <a:spcBef>
                <a:spcPct val="0"/>
              </a:spcBef>
              <a:spcAft>
                <a:spcPct val="0"/>
              </a:spcAft>
              <a:buClrTx/>
              <a:buSzTx/>
              <a:tabLst/>
            </a:pPr>
            <a:endParaRPr lang="fr-CH" dirty="0" smtClean="0">
              <a:cs typeface="Times New Roman" pitchFamily="18" charset="0"/>
            </a:endParaRPr>
          </a:p>
        </p:txBody>
      </p:sp>
      <p:sp>
        <p:nvSpPr>
          <p:cNvPr id="3" name="Rectangle 2"/>
          <p:cNvSpPr/>
          <p:nvPr/>
        </p:nvSpPr>
        <p:spPr>
          <a:xfrm>
            <a:off x="1331640" y="3861048"/>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690336"/>
            <a:ext cx="4572000" cy="1200329"/>
          </a:xfrm>
          <a:prstGeom prst="rect">
            <a:avLst/>
          </a:prstGeom>
        </p:spPr>
        <p:txBody>
          <a:bodyPr>
            <a:spAutoFit/>
          </a:bodyPr>
          <a:lstStyle/>
          <a:p>
            <a:r>
              <a:rPr lang="fr-CH" dirty="0" smtClean="0"/>
              <a:t>Le risque est redoutable chez l’homme âgé de plus de 65 ans: isolement affectif, deuil, perte de statut social, perte du sentiment d’invulnérabilité.</a:t>
            </a:r>
            <a:endParaRPr lang="fr-CH"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ChangeArrowheads="1"/>
          </p:cNvSpPr>
          <p:nvPr/>
        </p:nvSpPr>
        <p:spPr bwMode="auto">
          <a:xfrm>
            <a:off x="971600" y="1567826"/>
            <a:ext cx="7200800" cy="36933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H" i="0" u="none" strike="noStrike" cap="none" normalizeH="0" baseline="0" dirty="0" smtClean="0">
                <a:ln>
                  <a:noFill/>
                </a:ln>
                <a:solidFill>
                  <a:schemeClr val="tx1"/>
                </a:solidFill>
                <a:effectLst/>
                <a:ea typeface="Calibri" pitchFamily="34" charset="0"/>
                <a:cs typeface="Times New Roman" pitchFamily="18" charset="0"/>
              </a:rPr>
              <a:t>Les propositions suivantes concernant l’insomnie sont exactes, </a:t>
            </a:r>
            <a:r>
              <a:rPr kumimoji="0" lang="fr-CH" b="1" i="0" u="none" strike="noStrike" cap="none" normalizeH="0" baseline="0" dirty="0" smtClean="0">
                <a:ln>
                  <a:noFill/>
                </a:ln>
                <a:solidFill>
                  <a:schemeClr val="tx1"/>
                </a:solidFill>
                <a:effectLst/>
                <a:ea typeface="Calibri" pitchFamily="34" charset="0"/>
                <a:cs typeface="Times New Roman" pitchFamily="18" charset="0"/>
              </a:rPr>
              <a:t>sauf une</a:t>
            </a:r>
            <a:r>
              <a:rPr kumimoji="0" lang="fr-CH" i="0" u="none" strike="noStrike" cap="none" normalizeH="0" baseline="0" dirty="0" smtClean="0">
                <a:ln>
                  <a:noFill/>
                </a:ln>
                <a:solidFill>
                  <a:schemeClr val="tx1"/>
                </a:solidFill>
                <a:effectLst/>
                <a:ea typeface="Calibri" pitchFamily="34" charset="0"/>
                <a:cs typeface="Times New Roman" pitchFamily="18" charset="0"/>
              </a:rPr>
              <a:t>. Laquelle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H"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La prévalence de l’insomnie dans la population générale est de l’ordre de 10 à 15%.</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L’insomnie occasionnelle est la plus fréquente.</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Le trouble est deux fois plus fréquent chez les hommes que chez les femmes après 40 ans.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Une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comorbidité</a:t>
            </a:r>
            <a:r>
              <a:rPr kumimoji="0" lang="fr-CH" b="0" i="0" u="none" strike="noStrike" cap="none" normalizeH="0" baseline="0" dirty="0" smtClean="0">
                <a:ln>
                  <a:noFill/>
                </a:ln>
                <a:solidFill>
                  <a:schemeClr val="tx1"/>
                </a:solidFill>
                <a:effectLst/>
                <a:ea typeface="Calibri" pitchFamily="34" charset="0"/>
                <a:cs typeface="Times New Roman" pitchFamily="18" charset="0"/>
              </a:rPr>
              <a:t> psychiatrique existe dans 1/3 des cas.</a:t>
            </a:r>
          </a:p>
          <a:p>
            <a:pPr marL="800100" lvl="1" indent="-342900" eaLnBrk="0" fontAlgn="base" hangingPunct="0">
              <a:spcBef>
                <a:spcPct val="0"/>
              </a:spcBef>
              <a:spcAft>
                <a:spcPct val="0"/>
              </a:spcAft>
              <a:buFont typeface="+mj-lt"/>
              <a:buAutoNum type="alphaUcPeriod"/>
            </a:pPr>
            <a:r>
              <a:rPr lang="fr-CH" dirty="0" smtClean="0">
                <a:ea typeface="Calibri" pitchFamily="34" charset="0"/>
                <a:cs typeface="Times New Roman" pitchFamily="18" charset="0"/>
              </a:rPr>
              <a:t>Fatigue, difficultés attentionnelles et perturbation de l’humeur font partie des symptômes fréquemment rapportés par les patients.</a:t>
            </a:r>
            <a:endParaRPr kumimoji="0" lang="fr-CH" b="0" i="0" u="none" strike="noStrike" cap="none" normalizeH="0" baseline="0" dirty="0" smtClean="0">
              <a:ln>
                <a:noFill/>
              </a:ln>
              <a:solidFill>
                <a:schemeClr val="tx1"/>
              </a:solidFill>
              <a:effectLst/>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fr-CH" dirty="0" smtClean="0">
              <a:cs typeface="Times New Roman" pitchFamily="18" charset="0"/>
            </a:endParaRPr>
          </a:p>
        </p:txBody>
      </p:sp>
      <p:sp>
        <p:nvSpPr>
          <p:cNvPr id="3" name="Rectangle 2"/>
          <p:cNvSpPr/>
          <p:nvPr/>
        </p:nvSpPr>
        <p:spPr>
          <a:xfrm>
            <a:off x="1331640" y="3284984"/>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971600" y="1407259"/>
            <a:ext cx="7200800" cy="39703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Concernant le trouble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somatoforme</a:t>
            </a:r>
            <a:r>
              <a:rPr kumimoji="0" lang="fr-CH" b="0" i="0" u="none" strike="noStrike" cap="none" normalizeH="0" baseline="0" dirty="0" smtClean="0">
                <a:ln>
                  <a:noFill/>
                </a:ln>
                <a:solidFill>
                  <a:schemeClr val="tx1"/>
                </a:solidFill>
                <a:effectLst/>
                <a:ea typeface="Calibri" pitchFamily="34" charset="0"/>
                <a:cs typeface="Times New Roman" pitchFamily="18" charset="0"/>
              </a:rPr>
              <a:t> douloureux, les propositions suivantes sont correctes </a:t>
            </a:r>
            <a:r>
              <a:rPr kumimoji="0" lang="fr-CH" b="1" i="0" u="none" strike="noStrike" cap="none" normalizeH="0" baseline="0" dirty="0" smtClean="0">
                <a:ln>
                  <a:noFill/>
                </a:ln>
                <a:solidFill>
                  <a:schemeClr val="tx1"/>
                </a:solidFill>
                <a:effectLst/>
                <a:ea typeface="Calibri" pitchFamily="34" charset="0"/>
                <a:cs typeface="Times New Roman" pitchFamily="18" charset="0"/>
              </a:rPr>
              <a:t>sauf</a:t>
            </a:r>
            <a:r>
              <a:rPr kumimoji="0" lang="fr-CH" b="0" i="0" u="none" strike="noStrike" cap="none" normalizeH="0" baseline="0" dirty="0" smtClean="0">
                <a:ln>
                  <a:noFill/>
                </a:ln>
                <a:solidFill>
                  <a:schemeClr val="tx1"/>
                </a:solidFill>
                <a:effectLst/>
                <a:ea typeface="Calibri" pitchFamily="34" charset="0"/>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tab pos="457200" algn="l"/>
              </a:tabLst>
            </a:pP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L’</a:t>
            </a:r>
            <a:r>
              <a:rPr kumimoji="0" lang="fr-CH" b="0" i="0" u="none" strike="noStrike" cap="none" normalizeH="0" baseline="0" dirty="0" smtClean="0">
                <a:ln>
                  <a:noFill/>
                </a:ln>
                <a:solidFill>
                  <a:schemeClr val="tx1"/>
                </a:solidFill>
                <a:effectLst/>
                <a:ea typeface="Calibri" pitchFamily="34" charset="0"/>
                <a:cs typeface="Times New Roman" pitchFamily="18" charset="0"/>
              </a:rPr>
              <a:t>objectif du traitement est l’amélioration du fonctionnement du patient avant la réduction des symptômes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i</a:t>
            </a:r>
            <a:r>
              <a:rPr kumimoji="0" lang="fr-CH" b="0" i="0" u="none" strike="noStrike" cap="none" normalizeH="0" baseline="0" dirty="0" smtClean="0">
                <a:ln>
                  <a:noFill/>
                </a:ln>
                <a:solidFill>
                  <a:schemeClr val="tx1"/>
                </a:solidFill>
                <a:effectLst/>
                <a:ea typeface="Calibri" pitchFamily="34" charset="0"/>
                <a:cs typeface="Times New Roman" pitchFamily="18" charset="0"/>
              </a:rPr>
              <a:t>l y a un fort risque de relation thérapeutique conflictuelle car les patients exagèrent volontairement leurs symptômes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l</a:t>
            </a:r>
            <a:r>
              <a:rPr kumimoji="0" lang="fr-CH" b="0" i="0" u="none" strike="noStrike" cap="none" normalizeH="0" baseline="0" dirty="0" smtClean="0">
                <a:ln>
                  <a:noFill/>
                </a:ln>
                <a:solidFill>
                  <a:schemeClr val="tx1"/>
                </a:solidFill>
                <a:effectLst/>
                <a:ea typeface="Calibri" pitchFamily="34" charset="0"/>
                <a:cs typeface="Times New Roman" pitchFamily="18" charset="0"/>
              </a:rPr>
              <a:t>a répétition d’examens para-cliniques comporte un risque de chronicisation des douleurs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u</a:t>
            </a:r>
            <a:r>
              <a:rPr kumimoji="0" lang="fr-CH" b="0" i="0" u="none" strike="noStrike" cap="none" normalizeH="0" baseline="0" dirty="0" smtClean="0">
                <a:ln>
                  <a:noFill/>
                </a:ln>
                <a:solidFill>
                  <a:schemeClr val="tx1"/>
                </a:solidFill>
                <a:effectLst/>
                <a:ea typeface="Calibri" pitchFamily="34" charset="0"/>
                <a:cs typeface="Times New Roman" pitchFamily="18" charset="0"/>
              </a:rPr>
              <a:t>ne majorité de patients présentent aussi un autre diagnostic psychiatrique</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d</a:t>
            </a:r>
            <a:r>
              <a:rPr kumimoji="0" lang="fr-CH" b="0" i="0" u="none" strike="noStrike" cap="none" normalizeH="0" baseline="0" dirty="0" smtClean="0">
                <a:ln>
                  <a:noFill/>
                </a:ln>
                <a:solidFill>
                  <a:schemeClr val="tx1"/>
                </a:solidFill>
                <a:effectLst/>
                <a:ea typeface="Calibri" pitchFamily="34" charset="0"/>
                <a:cs typeface="Times New Roman" pitchFamily="18" charset="0"/>
              </a:rPr>
              <a:t>es études montrent une grande variabilité interindividuelle dans la réponse subjective à un stimulus douloureux</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endParaRPr lang="fr-CH" dirty="0" smtClean="0">
              <a:cs typeface="Times New Roman" pitchFamily="18" charset="0"/>
            </a:endParaRPr>
          </a:p>
        </p:txBody>
      </p:sp>
      <p:sp>
        <p:nvSpPr>
          <p:cNvPr id="3" name="Rectangle 2"/>
          <p:cNvSpPr/>
          <p:nvPr/>
        </p:nvSpPr>
        <p:spPr>
          <a:xfrm>
            <a:off x="1259632" y="2852936"/>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1640" y="836712"/>
            <a:ext cx="6912768" cy="5016758"/>
          </a:xfrm>
          <a:prstGeom prst="rect">
            <a:avLst/>
          </a:prstGeom>
        </p:spPr>
        <p:txBody>
          <a:bodyPr wrap="square">
            <a:spAutoFit/>
          </a:bodyPr>
          <a:lstStyle/>
          <a:p>
            <a:r>
              <a:rPr lang="fr-CH" sz="2000" dirty="0" smtClean="0"/>
              <a:t>Les symptômes s’améliorent souvent après une amélioration fonctionnelle, plus rarement l’inverse.</a:t>
            </a:r>
          </a:p>
          <a:p>
            <a:endParaRPr lang="fr-CH" sz="2000" dirty="0" smtClean="0"/>
          </a:p>
          <a:p>
            <a:r>
              <a:rPr lang="fr-CH" sz="2000" dirty="0" smtClean="0"/>
              <a:t>La recherche obstinée de causes organiques peut favoriser le trouble (sentiment de ne pas être cru, notamment).</a:t>
            </a:r>
          </a:p>
          <a:p>
            <a:endParaRPr lang="fr-CH" sz="2000" dirty="0" smtClean="0"/>
          </a:p>
          <a:p>
            <a:r>
              <a:rPr lang="fr-CH" sz="2000" dirty="0" smtClean="0"/>
              <a:t>La </a:t>
            </a:r>
            <a:r>
              <a:rPr lang="fr-CH" sz="2000" dirty="0" err="1" smtClean="0"/>
              <a:t>co</a:t>
            </a:r>
            <a:r>
              <a:rPr lang="fr-CH" sz="2000" dirty="0" smtClean="0"/>
              <a:t>-morbidité avec les troubles dépressifs et anxieux (trouble panique notamment) est très fréquente, de même que les antécédents traumatiques, avec ou sans PTSD clinique.</a:t>
            </a:r>
          </a:p>
          <a:p>
            <a:endParaRPr lang="fr-CH" sz="2000" dirty="0" smtClean="0"/>
          </a:p>
          <a:p>
            <a:r>
              <a:rPr lang="fr-CH" sz="2000" dirty="0" smtClean="0"/>
              <a:t>La douleur est une expérience subjective et très variable.</a:t>
            </a:r>
          </a:p>
          <a:p>
            <a:endParaRPr lang="fr-CH" sz="2000" dirty="0" smtClean="0"/>
          </a:p>
          <a:p>
            <a:r>
              <a:rPr lang="fr-CH" sz="2000" dirty="0" smtClean="0"/>
              <a:t>Les patients n’exagèrent pas volontairement leurs symptômes : même si les symptômes peuvent être fluctuant selon le contexte, ils sont associés à un authentique sentiment de détresse des patients.</a:t>
            </a:r>
            <a:endParaRPr lang="fr-CH"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971600" y="1706325"/>
            <a:ext cx="7200800"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r"/>
              </a:tabLst>
            </a:pPr>
            <a:r>
              <a:rPr kumimoji="0" lang="fr-CH" b="0" i="0" u="none" strike="noStrike" cap="none" normalizeH="0" baseline="0" dirty="0" smtClean="0">
                <a:ln>
                  <a:noFill/>
                </a:ln>
                <a:solidFill>
                  <a:schemeClr val="tx1"/>
                </a:solidFill>
                <a:effectLst/>
                <a:ea typeface="Calibri" pitchFamily="34" charset="0"/>
                <a:cs typeface="Arial" pitchFamily="34" charset="0"/>
              </a:rPr>
              <a:t>Parmi les propositions </a:t>
            </a:r>
            <a:r>
              <a:rPr kumimoji="0" lang="fr-CH" b="0" i="0" u="none" strike="noStrike" cap="none" normalizeH="0" baseline="0" dirty="0" smtClean="0">
                <a:ln>
                  <a:noFill/>
                </a:ln>
                <a:solidFill>
                  <a:schemeClr val="tx1"/>
                </a:solidFill>
                <a:effectLst/>
                <a:ea typeface="Calibri" pitchFamily="34" charset="0"/>
                <a:cs typeface="Arial" pitchFamily="34" charset="0"/>
              </a:rPr>
              <a:t>suivantes à propos des troubles</a:t>
            </a:r>
            <a:r>
              <a:rPr kumimoji="0" lang="fr-CH" b="0" i="0" u="none" strike="noStrike" cap="none" normalizeH="0" dirty="0" smtClean="0">
                <a:ln>
                  <a:noFill/>
                </a:ln>
                <a:solidFill>
                  <a:schemeClr val="tx1"/>
                </a:solidFill>
                <a:effectLst/>
                <a:ea typeface="Calibri" pitchFamily="34" charset="0"/>
                <a:cs typeface="Arial" pitchFamily="34" charset="0"/>
              </a:rPr>
              <a:t> dissociatif et factice,</a:t>
            </a:r>
            <a:r>
              <a:rPr kumimoji="0" lang="fr-CH" b="0" i="0" u="none" strike="noStrike" cap="none" normalizeH="0" baseline="0" dirty="0" smtClean="0">
                <a:ln>
                  <a:noFill/>
                </a:ln>
                <a:solidFill>
                  <a:schemeClr val="tx1"/>
                </a:solidFill>
                <a:effectLst/>
                <a:ea typeface="Calibri" pitchFamily="34" charset="0"/>
                <a:cs typeface="Arial" pitchFamily="34" charset="0"/>
              </a:rPr>
              <a:t> </a:t>
            </a:r>
            <a:r>
              <a:rPr kumimoji="0" lang="fr-CH" b="0" i="0" u="none" strike="noStrike" cap="none" normalizeH="0" baseline="0" dirty="0" smtClean="0">
                <a:ln>
                  <a:noFill/>
                </a:ln>
                <a:solidFill>
                  <a:schemeClr val="tx1"/>
                </a:solidFill>
                <a:effectLst/>
                <a:ea typeface="Calibri" pitchFamily="34" charset="0"/>
                <a:cs typeface="Arial" pitchFamily="34" charset="0"/>
              </a:rPr>
              <a:t>laquelle est </a:t>
            </a:r>
            <a:r>
              <a:rPr kumimoji="0" lang="fr-CH" b="1" i="0" u="none" strike="noStrike" cap="none" normalizeH="0" baseline="0" dirty="0" smtClean="0">
                <a:ln>
                  <a:noFill/>
                </a:ln>
                <a:solidFill>
                  <a:schemeClr val="tx1"/>
                </a:solidFill>
                <a:effectLst/>
                <a:ea typeface="Calibri" pitchFamily="34" charset="0"/>
                <a:cs typeface="Arial" pitchFamily="34" charset="0"/>
              </a:rPr>
              <a:t>vraie</a:t>
            </a:r>
            <a:r>
              <a:rPr kumimoji="0" lang="fr-CH" b="0" i="0" u="none" strike="noStrike" cap="none" normalizeH="0" baseline="0" dirty="0" smtClean="0">
                <a:ln>
                  <a:noFill/>
                </a:ln>
                <a:solidFill>
                  <a:schemeClr val="tx1"/>
                </a:solidFill>
                <a:effectLst/>
                <a:ea typeface="Calibri" pitchFamily="34" charset="0"/>
                <a:cs typeface="Arial" pitchFamily="34" charset="0"/>
              </a:rPr>
              <a:t>?</a:t>
            </a:r>
            <a:endParaRPr kumimoji="0" lang="fr-CH" b="0" i="0" u="none" strike="noStrike" cap="none" normalizeH="0" baseline="0" dirty="0" smtClean="0">
              <a:ln>
                <a:noFill/>
              </a:ln>
              <a:solidFill>
                <a:schemeClr val="tx1"/>
              </a:solidFill>
              <a:effectLst/>
              <a:ea typeface="Calibri"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tab pos="457200" algn="r"/>
              </a:tabLst>
            </a:pP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r"/>
              </a:tabLst>
            </a:pPr>
            <a:r>
              <a:rPr lang="fr-CH" dirty="0" smtClean="0">
                <a:ea typeface="Calibri" pitchFamily="34" charset="0"/>
                <a:cs typeface="Arial" pitchFamily="34" charset="0"/>
              </a:rPr>
              <a:t>Chez </a:t>
            </a:r>
            <a:r>
              <a:rPr lang="fr-CH" dirty="0" smtClean="0">
                <a:ea typeface="Calibri" pitchFamily="34" charset="0"/>
                <a:cs typeface="Arial" pitchFamily="34" charset="0"/>
              </a:rPr>
              <a:t>un patient présentant des crises convulsives, un diagnostic d’épilepsie documenté par EEG exclut un trouble dissociatif</a:t>
            </a:r>
            <a:r>
              <a:rPr kumimoji="0" lang="fr-CH" b="0" i="0" u="none" strike="noStrike" cap="none" normalizeH="0" baseline="0" dirty="0" smtClean="0">
                <a:ln>
                  <a:noFill/>
                </a:ln>
                <a:solidFill>
                  <a:schemeClr val="tx1"/>
                </a:solidFill>
                <a:effectLst/>
                <a:ea typeface="Calibri" pitchFamily="34" charset="0"/>
                <a:cs typeface="Arial" pitchFamily="34" charset="0"/>
              </a:rPr>
              <a:t>.</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r"/>
              </a:tabLst>
            </a:pPr>
            <a:r>
              <a:rPr lang="fr-CH" dirty="0" smtClean="0">
                <a:ea typeface="Calibri" pitchFamily="34" charset="0"/>
                <a:cs typeface="Arial" pitchFamily="34" charset="0"/>
              </a:rPr>
              <a:t>L</a:t>
            </a:r>
            <a:r>
              <a:rPr kumimoji="0" lang="fr-CH" b="0" i="0" u="none" strike="noStrike" cap="none" normalizeH="0" baseline="0" dirty="0" smtClean="0">
                <a:ln>
                  <a:noFill/>
                </a:ln>
                <a:solidFill>
                  <a:schemeClr val="tx1"/>
                </a:solidFill>
                <a:effectLst/>
                <a:ea typeface="Calibri" pitchFamily="34" charset="0"/>
                <a:cs typeface="Arial" pitchFamily="34" charset="0"/>
              </a:rPr>
              <a:t>e trouble factice </a:t>
            </a:r>
            <a:r>
              <a:rPr kumimoji="0" lang="fr-CH" b="0" i="0" u="none" strike="noStrike" cap="none" normalizeH="0" baseline="0" dirty="0" smtClean="0">
                <a:ln>
                  <a:noFill/>
                </a:ln>
                <a:solidFill>
                  <a:schemeClr val="tx1"/>
                </a:solidFill>
                <a:effectLst/>
                <a:ea typeface="Calibri" pitchFamily="34" charset="0"/>
                <a:cs typeface="Arial" pitchFamily="34" charset="0"/>
              </a:rPr>
              <a:t>implique l’absence de pathologie</a:t>
            </a:r>
            <a:r>
              <a:rPr kumimoji="0" lang="fr-CH" b="0" i="0" u="none" strike="noStrike" cap="none" normalizeH="0" dirty="0" smtClean="0">
                <a:ln>
                  <a:noFill/>
                </a:ln>
                <a:solidFill>
                  <a:schemeClr val="tx1"/>
                </a:solidFill>
                <a:effectLst/>
                <a:ea typeface="Calibri" pitchFamily="34" charset="0"/>
                <a:cs typeface="Arial" pitchFamily="34" charset="0"/>
              </a:rPr>
              <a:t> associée</a:t>
            </a:r>
            <a:r>
              <a:rPr kumimoji="0" lang="fr-CH" b="0" i="0" u="none" strike="noStrike" cap="none" normalizeH="0" baseline="0" dirty="0" smtClean="0">
                <a:ln>
                  <a:noFill/>
                </a:ln>
                <a:solidFill>
                  <a:schemeClr val="tx1"/>
                </a:solidFill>
                <a:effectLst/>
                <a:ea typeface="Calibri" pitchFamily="34" charset="0"/>
                <a:cs typeface="Arial" pitchFamily="34" charset="0"/>
              </a:rPr>
              <a:t>.</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r"/>
              </a:tabLst>
            </a:pPr>
            <a:r>
              <a:rPr lang="fr-CH" dirty="0" smtClean="0">
                <a:ea typeface="Calibri" pitchFamily="34" charset="0"/>
                <a:cs typeface="Arial" pitchFamily="34" charset="0"/>
              </a:rPr>
              <a:t>L</a:t>
            </a:r>
            <a:r>
              <a:rPr kumimoji="0" lang="fr-CH" b="0" i="0" u="none" strike="noStrike" cap="none" normalizeH="0" baseline="0" dirty="0" smtClean="0">
                <a:ln>
                  <a:noFill/>
                </a:ln>
                <a:solidFill>
                  <a:schemeClr val="tx1"/>
                </a:solidFill>
                <a:effectLst/>
                <a:ea typeface="Calibri" pitchFamily="34" charset="0"/>
                <a:cs typeface="Arial" pitchFamily="34" charset="0"/>
              </a:rPr>
              <a:t>’incidence d’abus physiques chez les patients souffrant de trouble dissociatif </a:t>
            </a:r>
            <a:r>
              <a:rPr kumimoji="0" lang="fr-CH" b="0" i="0" u="none" strike="noStrike" cap="none" normalizeH="0" baseline="0" dirty="0" smtClean="0">
                <a:ln>
                  <a:noFill/>
                </a:ln>
                <a:solidFill>
                  <a:schemeClr val="tx1"/>
                </a:solidFill>
                <a:effectLst/>
                <a:ea typeface="Calibri" pitchFamily="34" charset="0"/>
                <a:cs typeface="Arial" pitchFamily="34" charset="0"/>
              </a:rPr>
              <a:t>est </a:t>
            </a:r>
            <a:r>
              <a:rPr kumimoji="0" lang="fr-CH" b="0" i="0" u="none" strike="noStrike" cap="none" normalizeH="0" baseline="0" dirty="0" smtClean="0">
                <a:ln>
                  <a:noFill/>
                </a:ln>
                <a:solidFill>
                  <a:schemeClr val="tx1"/>
                </a:solidFill>
                <a:effectLst/>
                <a:ea typeface="Calibri" pitchFamily="34" charset="0"/>
                <a:cs typeface="Arial" pitchFamily="34" charset="0"/>
              </a:rPr>
              <a:t>supérieure à celui des patients souffrant d’un trouble affectif</a:t>
            </a:r>
            <a:r>
              <a:rPr kumimoji="0" lang="fr-CH" b="0" i="0" u="none" strike="noStrike" cap="none" normalizeH="0" baseline="0" dirty="0" smtClean="0">
                <a:ln>
                  <a:noFill/>
                </a:ln>
                <a:solidFill>
                  <a:schemeClr val="tx1"/>
                </a:solidFill>
                <a:effectLst/>
                <a:ea typeface="Calibri" pitchFamily="34" charset="0"/>
                <a:cs typeface="Arial" pitchFamily="34" charset="0"/>
              </a:rPr>
              <a:t>.</a:t>
            </a:r>
          </a:p>
          <a:p>
            <a:pPr marL="800100" lvl="1" indent="-342900" eaLnBrk="0" fontAlgn="base" hangingPunct="0">
              <a:spcBef>
                <a:spcPct val="0"/>
              </a:spcBef>
              <a:spcAft>
                <a:spcPct val="0"/>
              </a:spcAft>
              <a:buFont typeface="+mj-lt"/>
              <a:buAutoNum type="alphaUcPeriod"/>
              <a:tabLst>
                <a:tab pos="457200" algn="r"/>
              </a:tabLst>
            </a:pPr>
            <a:r>
              <a:rPr lang="fr-CH" dirty="0" smtClean="0">
                <a:ea typeface="Calibri" pitchFamily="34" charset="0"/>
                <a:cs typeface="Arial" pitchFamily="34" charset="0"/>
              </a:rPr>
              <a:t>Il existe des signes cliniques neurologiques de non-organicité.</a:t>
            </a:r>
            <a:r>
              <a:rPr lang="fr-CH" dirty="0" smtClean="0"/>
              <a:t> </a:t>
            </a:r>
          </a:p>
          <a:p>
            <a:pPr marL="800100" lvl="1" indent="-342900" eaLnBrk="0" fontAlgn="base" hangingPunct="0">
              <a:spcBef>
                <a:spcPct val="0"/>
              </a:spcBef>
              <a:spcAft>
                <a:spcPct val="0"/>
              </a:spcAft>
              <a:buFont typeface="+mj-lt"/>
              <a:buAutoNum type="alphaUcPeriod"/>
              <a:tabLst>
                <a:tab pos="457200" algn="r"/>
              </a:tabLst>
            </a:pPr>
            <a:r>
              <a:rPr lang="fr-CH" dirty="0" smtClean="0">
                <a:ea typeface="Calibri" pitchFamily="34" charset="0"/>
                <a:cs typeface="Arial" pitchFamily="34" charset="0"/>
              </a:rPr>
              <a:t>Le </a:t>
            </a:r>
            <a:r>
              <a:rPr lang="fr-CH" dirty="0" smtClean="0">
                <a:ea typeface="Calibri" pitchFamily="34" charset="0"/>
                <a:cs typeface="Arial" pitchFamily="34" charset="0"/>
              </a:rPr>
              <a:t>trouble dissociatif représente une simulation de symptômes</a:t>
            </a:r>
            <a:r>
              <a:rPr lang="fr-CH" dirty="0" smtClean="0">
                <a:ea typeface="Calibri" pitchFamily="34" charset="0"/>
                <a:cs typeface="Arial" pitchFamily="34" charset="0"/>
              </a:rPr>
              <a:t>.</a:t>
            </a:r>
            <a:endParaRPr kumimoji="0" lang="fr-CH" b="0" i="0" u="none" strike="noStrike" cap="none" normalizeH="0" baseline="0" dirty="0" smtClean="0">
              <a:ln>
                <a:noFill/>
              </a:ln>
              <a:solidFill>
                <a:schemeClr val="tx1"/>
              </a:solidFill>
              <a:effectLst/>
              <a:ea typeface="Calibri"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r"/>
              </a:tabLst>
            </a:pPr>
            <a:endParaRPr lang="fr-CH" dirty="0" smtClean="0"/>
          </a:p>
        </p:txBody>
      </p:sp>
      <p:sp>
        <p:nvSpPr>
          <p:cNvPr id="3" name="Rectangle 2"/>
          <p:cNvSpPr/>
          <p:nvPr/>
        </p:nvSpPr>
        <p:spPr>
          <a:xfrm>
            <a:off x="1331640" y="4221088"/>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7664" y="980728"/>
            <a:ext cx="6606480" cy="5324535"/>
          </a:xfrm>
          <a:prstGeom prst="rect">
            <a:avLst/>
          </a:prstGeom>
        </p:spPr>
        <p:txBody>
          <a:bodyPr wrap="square">
            <a:spAutoFit/>
          </a:bodyPr>
          <a:lstStyle/>
          <a:p>
            <a:r>
              <a:rPr lang="fr-CH" sz="2000" dirty="0" smtClean="0"/>
              <a:t>Le trouble dissociatif n’est pas une production volontaire de symptômes – il se différencie d’une simulation, tant sur le plan clinique que des corrélats neurobiologiques (p.ex. en </a:t>
            </a:r>
            <a:r>
              <a:rPr lang="fr-CH" sz="2000" dirty="0" err="1" smtClean="0"/>
              <a:t>neuroimagerie</a:t>
            </a:r>
            <a:r>
              <a:rPr lang="fr-CH" sz="2000" dirty="0" smtClean="0"/>
              <a:t>).</a:t>
            </a:r>
          </a:p>
          <a:p>
            <a:endParaRPr lang="fr-CH" sz="2000" dirty="0" smtClean="0"/>
          </a:p>
          <a:p>
            <a:r>
              <a:rPr lang="fr-CH" sz="2000" dirty="0" smtClean="0"/>
              <a:t>Les crises convulsives dissociatives sont fréquemment associées des crises épileptiques.</a:t>
            </a:r>
          </a:p>
          <a:p>
            <a:endParaRPr lang="fr-CH" sz="2000" dirty="0" smtClean="0"/>
          </a:p>
          <a:p>
            <a:r>
              <a:rPr lang="fr-CH" sz="2000" dirty="0" smtClean="0"/>
              <a:t>Le trouble factice est bien une production volontaire, simulée de symptômes, dans le but de pouvoir occuper une place de malade notamment dans le système </a:t>
            </a:r>
            <a:r>
              <a:rPr lang="fr-CH" sz="2000" dirty="0" smtClean="0"/>
              <a:t>familial; il est associé fréquemment à d’importantes difficultés psychiques, notamment un passé de maltraitance.</a:t>
            </a:r>
            <a:endParaRPr lang="fr-CH" sz="2000" dirty="0" smtClean="0"/>
          </a:p>
          <a:p>
            <a:endParaRPr lang="fr-CH" sz="2000" dirty="0" smtClean="0"/>
          </a:p>
          <a:p>
            <a:r>
              <a:rPr lang="fr-CH" sz="2000" dirty="0" smtClean="0"/>
              <a:t>C’est entre autres sur la base des constatations neurologiques d’incompatibilité entre les plaintes et l’anatomie du système nerveux qu’est fait le diagnostic.</a:t>
            </a:r>
            <a:endParaRPr lang="fr-CH"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1600" y="1582341"/>
            <a:ext cx="7200800" cy="3139321"/>
          </a:xfrm>
          <a:prstGeom prst="rect">
            <a:avLst/>
          </a:prstGeom>
        </p:spPr>
        <p:txBody>
          <a:bodyPr wrap="square">
            <a:spAutoFit/>
          </a:bodyPr>
          <a:lstStyle/>
          <a:p>
            <a:r>
              <a:rPr lang="fr-CH" dirty="0" smtClean="0"/>
              <a:t>Parmi les propositions suivantes, laquelle est </a:t>
            </a:r>
            <a:r>
              <a:rPr lang="fr-CH" b="1" dirty="0" smtClean="0"/>
              <a:t>fausse</a:t>
            </a:r>
            <a:r>
              <a:rPr lang="fr-CH" dirty="0" smtClean="0"/>
              <a:t>?</a:t>
            </a:r>
          </a:p>
          <a:p>
            <a:endParaRPr lang="fr-CH" dirty="0" smtClean="0"/>
          </a:p>
          <a:p>
            <a:pPr marL="800100" lvl="1" indent="-342900">
              <a:buFont typeface="+mj-lt"/>
              <a:buAutoNum type="alphaUcPeriod"/>
            </a:pPr>
            <a:r>
              <a:rPr lang="fr-CH" dirty="0" smtClean="0"/>
              <a:t>Un diagnostic de schizophrénie augmente le risque suicidaire par rapport à une population sans diagnostic psychiatrique</a:t>
            </a:r>
            <a:endParaRPr lang="fr-CH" dirty="0" smtClean="0"/>
          </a:p>
          <a:p>
            <a:pPr marL="800100" lvl="1" indent="-342900">
              <a:buFont typeface="+mj-lt"/>
              <a:buAutoNum type="alphaUcPeriod"/>
            </a:pPr>
            <a:r>
              <a:rPr lang="fr-CH" dirty="0" smtClean="0"/>
              <a:t>Les patients avec troubles affectif bipolaire se suicident moins que les patients avec troubles unipolaires </a:t>
            </a:r>
          </a:p>
          <a:p>
            <a:pPr marL="800100" lvl="1" indent="-342900">
              <a:buFont typeface="+mj-lt"/>
              <a:buAutoNum type="alphaUcPeriod"/>
            </a:pPr>
            <a:r>
              <a:rPr lang="fr-FR" dirty="0" smtClean="0"/>
              <a:t>Une histoire familiale de suicide double le risque suicidaire</a:t>
            </a:r>
            <a:endParaRPr lang="fr-CH" dirty="0" smtClean="0"/>
          </a:p>
          <a:p>
            <a:pPr marL="800100" lvl="1" indent="-342900">
              <a:buFont typeface="+mj-lt"/>
              <a:buAutoNum type="alphaUcPeriod"/>
            </a:pPr>
            <a:r>
              <a:rPr lang="fr-CH" dirty="0" smtClean="0"/>
              <a:t>Le facteur prédictif principal est une précédente tentative de suicide</a:t>
            </a:r>
          </a:p>
          <a:p>
            <a:pPr marL="800100" lvl="1" indent="-342900">
              <a:buFont typeface="+mj-lt"/>
              <a:buAutoNum type="alphaUcPeriod"/>
            </a:pPr>
            <a:r>
              <a:rPr lang="fr-CH" dirty="0" smtClean="0"/>
              <a:t>Le suicide est difficilement prédictible</a:t>
            </a:r>
          </a:p>
          <a:p>
            <a:pPr lvl="0"/>
            <a:endParaRPr lang="fr-CH" dirty="0" smtClean="0"/>
          </a:p>
        </p:txBody>
      </p:sp>
      <p:sp>
        <p:nvSpPr>
          <p:cNvPr id="3" name="Rectangle 2"/>
          <p:cNvSpPr/>
          <p:nvPr/>
        </p:nvSpPr>
        <p:spPr>
          <a:xfrm>
            <a:off x="1331640" y="2708920"/>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67744" y="1628800"/>
            <a:ext cx="5166320" cy="2554545"/>
          </a:xfrm>
          <a:prstGeom prst="rect">
            <a:avLst/>
          </a:prstGeom>
        </p:spPr>
        <p:txBody>
          <a:bodyPr wrap="square">
            <a:spAutoFit/>
          </a:bodyPr>
          <a:lstStyle/>
          <a:p>
            <a:r>
              <a:rPr lang="fr-CH" sz="2000" dirty="0" smtClean="0"/>
              <a:t>Les </a:t>
            </a:r>
            <a:r>
              <a:rPr lang="fr-CH" sz="2000" dirty="0" smtClean="0"/>
              <a:t>patients bipolaires ont des taux de suicide deux à trois fois plus élevés que les patients unipolaires.</a:t>
            </a:r>
          </a:p>
          <a:p>
            <a:endParaRPr lang="fr-CH" sz="2000" dirty="0" smtClean="0"/>
          </a:p>
          <a:p>
            <a:r>
              <a:rPr lang="fr-CH" sz="2000" dirty="0" smtClean="0"/>
              <a:t>L’histoire familiale et les antécédents de tentatives de suicide sont des facteurs de risque majeur, mais le suicide reste difficilement prédictible.</a:t>
            </a:r>
            <a:endParaRPr lang="fr-CH"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ChangeArrowheads="1"/>
          </p:cNvSpPr>
          <p:nvPr/>
        </p:nvSpPr>
        <p:spPr bwMode="auto">
          <a:xfrm>
            <a:off x="899592" y="2199347"/>
            <a:ext cx="7272808" cy="25853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Face à un tableau psychiatrique, les caractéristiques suivantes sont évocatrices d’une affection somatique sous-jacente </a:t>
            </a:r>
            <a:r>
              <a:rPr kumimoji="0" lang="fr-CH" b="1" i="0" u="none" strike="noStrike" cap="none" normalizeH="0" baseline="0" dirty="0" smtClean="0">
                <a:ln>
                  <a:noFill/>
                </a:ln>
                <a:solidFill>
                  <a:schemeClr val="tx1"/>
                </a:solidFill>
                <a:effectLst/>
                <a:ea typeface="Calibri" pitchFamily="34" charset="0"/>
                <a:cs typeface="Times New Roman" pitchFamily="18" charset="0"/>
              </a:rPr>
              <a:t>sauf</a:t>
            </a:r>
            <a:r>
              <a:rPr kumimoji="0" lang="fr-CH" b="0" i="0" u="none" strike="noStrike" cap="none" normalizeH="0" baseline="0" dirty="0" smtClean="0">
                <a:ln>
                  <a:noFill/>
                </a:ln>
                <a:solidFill>
                  <a:schemeClr val="tx1"/>
                </a:solidFill>
                <a:effectLst/>
                <a:ea typeface="Calibri" pitchFamily="34" charset="0"/>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tab pos="457200" algn="l"/>
              </a:tabLst>
            </a:pP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u</a:t>
            </a:r>
            <a:r>
              <a:rPr kumimoji="0" lang="fr-CH" b="0" i="0" u="none" strike="noStrike" cap="none" normalizeH="0" baseline="0" dirty="0" smtClean="0">
                <a:ln>
                  <a:noFill/>
                </a:ln>
                <a:solidFill>
                  <a:schemeClr val="tx1"/>
                </a:solidFill>
                <a:effectLst/>
                <a:ea typeface="Calibri" pitchFamily="34" charset="0"/>
                <a:cs typeface="Times New Roman" pitchFamily="18" charset="0"/>
              </a:rPr>
              <a:t>ne apparition soudaine des symptômes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l</a:t>
            </a:r>
            <a:r>
              <a:rPr kumimoji="0" lang="fr-CH" b="0" i="0" u="none" strike="noStrike" cap="none" normalizeH="0" baseline="0" dirty="0" smtClean="0">
                <a:ln>
                  <a:noFill/>
                </a:ln>
                <a:solidFill>
                  <a:schemeClr val="tx1"/>
                </a:solidFill>
                <a:effectLst/>
                <a:ea typeface="Calibri" pitchFamily="34" charset="0"/>
                <a:cs typeface="Times New Roman" pitchFamily="18" charset="0"/>
              </a:rPr>
              <a:t>a présence d’hallucinations visuelles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l</a:t>
            </a:r>
            <a:r>
              <a:rPr kumimoji="0" lang="fr-CH" b="0" i="0" u="none" strike="noStrike" cap="none" normalizeH="0" baseline="0" dirty="0" smtClean="0">
                <a:ln>
                  <a:noFill/>
                </a:ln>
                <a:solidFill>
                  <a:schemeClr val="tx1"/>
                </a:solidFill>
                <a:effectLst/>
                <a:ea typeface="Calibri" pitchFamily="34" charset="0"/>
                <a:cs typeface="Times New Roman" pitchFamily="18" charset="0"/>
              </a:rPr>
              <a:t>’absence d’antécédents psychiatriques </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l</a:t>
            </a:r>
            <a:r>
              <a:rPr kumimoji="0" lang="fr-CH" b="0" i="0" u="none" strike="noStrike" cap="none" normalizeH="0" baseline="0" dirty="0" smtClean="0">
                <a:ln>
                  <a:noFill/>
                </a:ln>
                <a:solidFill>
                  <a:schemeClr val="tx1"/>
                </a:solidFill>
                <a:effectLst/>
                <a:ea typeface="Calibri" pitchFamily="34" charset="0"/>
                <a:cs typeface="Times New Roman" pitchFamily="18" charset="0"/>
              </a:rPr>
              <a:t>a présence de troubles cognitifs sévères (mémoire, orientation)</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tabLst>
                <a:tab pos="457200" algn="l"/>
              </a:tabLst>
            </a:pPr>
            <a:r>
              <a:rPr lang="fr-CH" dirty="0" smtClean="0">
                <a:ea typeface="Calibri" pitchFamily="34" charset="0"/>
                <a:cs typeface="Times New Roman" pitchFamily="18" charset="0"/>
              </a:rPr>
              <a:t>l</a:t>
            </a:r>
            <a:r>
              <a:rPr kumimoji="0" lang="fr-CH" b="0" i="0" u="none" strike="noStrike" cap="none" normalizeH="0" baseline="0" dirty="0" smtClean="0">
                <a:ln>
                  <a:noFill/>
                </a:ln>
                <a:solidFill>
                  <a:schemeClr val="tx1"/>
                </a:solidFill>
                <a:effectLst/>
                <a:ea typeface="Calibri" pitchFamily="34" charset="0"/>
                <a:cs typeface="Times New Roman" pitchFamily="18" charset="0"/>
              </a:rPr>
              <a:t>a présence d’antécédents psychiatriques familiaux</a:t>
            </a:r>
          </a:p>
          <a:p>
            <a:pPr marL="0" marR="0" lvl="0" indent="0" algn="l" defTabSz="914400" rtl="0" eaLnBrk="0" fontAlgn="base" latinLnBrk="0" hangingPunct="0">
              <a:lnSpc>
                <a:spcPct val="100000"/>
              </a:lnSpc>
              <a:spcBef>
                <a:spcPct val="0"/>
              </a:spcBef>
              <a:spcAft>
                <a:spcPct val="0"/>
              </a:spcAft>
              <a:buClrTx/>
              <a:buSzTx/>
              <a:tabLst>
                <a:tab pos="457200" algn="l"/>
              </a:tabLst>
            </a:pPr>
            <a:endParaRPr lang="fr-CH" dirty="0" smtClean="0">
              <a:cs typeface="Times New Roman" pitchFamily="18" charset="0"/>
            </a:endParaRPr>
          </a:p>
        </p:txBody>
      </p:sp>
      <p:sp>
        <p:nvSpPr>
          <p:cNvPr id="3" name="Rectangle 2"/>
          <p:cNvSpPr/>
          <p:nvPr/>
        </p:nvSpPr>
        <p:spPr>
          <a:xfrm>
            <a:off x="1259632" y="4149080"/>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ChangeArrowheads="1"/>
          </p:cNvSpPr>
          <p:nvPr/>
        </p:nvSpPr>
        <p:spPr bwMode="auto">
          <a:xfrm>
            <a:off x="971600" y="1983323"/>
            <a:ext cx="7200800" cy="28623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Quel est  le traitement initial le plus approprié pour une patiente de 18 ans souffrant d’une anorexie mentale restrictive avec un indice de masse corporelle de 13 kg/m</a:t>
            </a:r>
            <a:r>
              <a:rPr kumimoji="0" lang="fr-CH" b="0" i="0" u="none" strike="noStrike" cap="none" normalizeH="0" baseline="30000" dirty="0" smtClean="0">
                <a:ln>
                  <a:noFill/>
                </a:ln>
                <a:solidFill>
                  <a:schemeClr val="tx1"/>
                </a:solidFill>
                <a:effectLst/>
                <a:ea typeface="Calibri" pitchFamily="34" charset="0"/>
                <a:cs typeface="Times New Roman" pitchFamily="18" charset="0"/>
              </a:rPr>
              <a:t>2 </a:t>
            </a:r>
            <a:r>
              <a:rPr kumimoji="0" lang="fr-CH" b="0" i="0" u="none" strike="noStrike" cap="none" normalizeH="0" baseline="0" dirty="0" smtClean="0">
                <a:ln>
                  <a:noFill/>
                </a:ln>
                <a:solidFill>
                  <a:schemeClr val="tx1"/>
                </a:solidFill>
                <a:effectLst/>
                <a:ea typeface="Calibri" pitchFamily="34" charset="0"/>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Une thérapie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cognitivo</a:t>
            </a:r>
            <a:r>
              <a:rPr kumimoji="0" lang="fr-CH" b="0" i="0" u="none" strike="noStrike" cap="none" normalizeH="0" baseline="0" dirty="0" smtClean="0">
                <a:ln>
                  <a:noFill/>
                </a:ln>
                <a:solidFill>
                  <a:schemeClr val="tx1"/>
                </a:solidFill>
                <a:effectLst/>
                <a:ea typeface="Calibri" pitchFamily="34" charset="0"/>
                <a:cs typeface="Times New Roman" pitchFamily="18" charset="0"/>
              </a:rPr>
              <a:t>-comportementale.</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Une psychothérapie analytique.</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 traitement diététique.</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effectLst/>
                <a:ea typeface="Calibri" pitchFamily="34" charset="0"/>
                <a:cs typeface="Times New Roman" pitchFamily="18" charset="0"/>
              </a:rPr>
              <a:t>Une </a:t>
            </a:r>
            <a:r>
              <a:rPr kumimoji="0" lang="fr-CH" b="0" i="0" u="none" strike="noStrike" cap="none" normalizeH="0" baseline="0" dirty="0" err="1" smtClean="0">
                <a:ln>
                  <a:noFill/>
                </a:ln>
                <a:effectLst/>
                <a:ea typeface="Calibri" pitchFamily="34" charset="0"/>
                <a:cs typeface="Times New Roman" pitchFamily="18" charset="0"/>
              </a:rPr>
              <a:t>renutrition</a:t>
            </a:r>
            <a:r>
              <a:rPr kumimoji="0" lang="fr-CH" b="0" i="0" u="none" strike="noStrike" cap="none" normalizeH="0" baseline="0" dirty="0" smtClean="0">
                <a:ln>
                  <a:noFill/>
                </a:ln>
                <a:effectLst/>
                <a:ea typeface="Calibri" pitchFamily="34" charset="0"/>
                <a:cs typeface="Times New Roman" pitchFamily="18" charset="0"/>
              </a:rPr>
              <a:t> en milieu hospitalier.</a:t>
            </a: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Une thérapie familiale.</a:t>
            </a:r>
            <a:r>
              <a:rPr kumimoji="0" lang="fr-CH"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fr-CH" dirty="0" smtClean="0"/>
          </a:p>
        </p:txBody>
      </p:sp>
      <p:sp>
        <p:nvSpPr>
          <p:cNvPr id="3" name="Rectangle 2"/>
          <p:cNvSpPr/>
          <p:nvPr/>
        </p:nvSpPr>
        <p:spPr>
          <a:xfrm>
            <a:off x="1259632" y="3933056"/>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916833"/>
            <a:ext cx="4950296" cy="2862322"/>
          </a:xfrm>
          <a:prstGeom prst="rect">
            <a:avLst/>
          </a:prstGeom>
        </p:spPr>
        <p:txBody>
          <a:bodyPr wrap="square">
            <a:spAutoFit/>
          </a:bodyPr>
          <a:lstStyle/>
          <a:p>
            <a:r>
              <a:rPr lang="fr-CH" dirty="0" smtClean="0"/>
              <a:t>13 kg/m</a:t>
            </a:r>
            <a:r>
              <a:rPr lang="fr-CH" baseline="30000" dirty="0" smtClean="0"/>
              <a:t>2</a:t>
            </a:r>
            <a:r>
              <a:rPr lang="fr-CH" dirty="0" smtClean="0"/>
              <a:t> correspond à un état de dénutrition sévère qui expose la patiente a des complications somatiques potentiellement létales et qui nécessite la mise en œuvre d’une </a:t>
            </a:r>
            <a:r>
              <a:rPr lang="fr-CH" dirty="0" err="1" smtClean="0"/>
              <a:t>renutrition</a:t>
            </a:r>
            <a:r>
              <a:rPr lang="fr-CH" dirty="0" smtClean="0"/>
              <a:t> sous contrôle (risque de syndrome de </a:t>
            </a:r>
            <a:r>
              <a:rPr lang="fr-CH" dirty="0" err="1" smtClean="0"/>
              <a:t>renutrition</a:t>
            </a:r>
            <a:r>
              <a:rPr lang="fr-CH" dirty="0" smtClean="0"/>
              <a:t> inapproprié).</a:t>
            </a:r>
          </a:p>
          <a:p>
            <a:endParaRPr lang="fr-CH" dirty="0" smtClean="0"/>
          </a:p>
          <a:p>
            <a:r>
              <a:rPr lang="fr-CH" dirty="0" smtClean="0"/>
              <a:t>En outre, un tel état de dénutrition affecte nécessairement ses facultés cognitives </a:t>
            </a:r>
            <a:r>
              <a:rPr lang="fr-CH" dirty="0" smtClean="0"/>
              <a:t>limitant l’impact d’un</a:t>
            </a:r>
            <a:r>
              <a:rPr lang="fr-CH" dirty="0" smtClean="0"/>
              <a:t> </a:t>
            </a:r>
            <a:r>
              <a:rPr lang="fr-CH" dirty="0" smtClean="0"/>
              <a:t>travail psychothérapeutique.</a:t>
            </a:r>
            <a:endParaRPr lang="fr-CH"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ChangeArrowheads="1"/>
          </p:cNvSpPr>
          <p:nvPr/>
        </p:nvSpPr>
        <p:spPr bwMode="auto">
          <a:xfrm>
            <a:off x="971600" y="1191235"/>
            <a:ext cx="7200800"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Jeune femme de 20 ans présentant depuis 1 an et demi des crises de boulimie à raison de 5 épisodes par semaine compensées par des vomissements provoqués. Elle se dit obsédée et angoissée par son poids et sa silhouette, se sentant constamment grosse. Elle a déjà eu recours à de nombreux régimes. Son indice de masse corporelle est de 20 kg/m</a:t>
            </a:r>
            <a:r>
              <a:rPr kumimoji="0" lang="fr-CH" b="0" i="0" u="none" strike="noStrike" cap="none" normalizeH="0" baseline="30000" dirty="0" smtClean="0">
                <a:ln>
                  <a:noFill/>
                </a:ln>
                <a:solidFill>
                  <a:schemeClr val="tx1"/>
                </a:solidFill>
                <a:effectLst/>
                <a:ea typeface="Calibri" pitchFamily="34" charset="0"/>
                <a:cs typeface="Times New Roman" pitchFamily="18" charset="0"/>
              </a:rPr>
              <a:t>2</a:t>
            </a:r>
            <a:r>
              <a:rPr kumimoji="0" lang="fr-CH" b="0" i="0" u="none" strike="noStrike" cap="none" normalizeH="0" baseline="0" dirty="0" smtClean="0">
                <a:ln>
                  <a:noFill/>
                </a:ln>
                <a:solidFill>
                  <a:schemeClr val="tx1"/>
                </a:solidFill>
                <a:effectLst/>
                <a:ea typeface="Calibri" pitchFamily="34" charset="0"/>
                <a:cs typeface="Times New Roman" pitchFamily="18" charset="0"/>
              </a:rPr>
              <a:t>.  En dehors des crises de boulimie, son alimentation est marquée par une nette restriction quantitative des apports et par l’éviction de nombreux aliments (pâtisseries, féculents, friture. …). Quel est le diagnostic le plus probable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Une anorexie mentale avec crises de boulimie.</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Une anorexie mentale restrictive.</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effectLst/>
                <a:ea typeface="Calibri" pitchFamily="34" charset="0"/>
                <a:cs typeface="Times New Roman" pitchFamily="18" charset="0"/>
              </a:rPr>
              <a:t>Une boulimie.</a:t>
            </a:r>
            <a:endParaRPr kumimoji="0" lang="fr-CH" b="0" i="0" u="none" strike="noStrike" cap="none" normalizeH="0" baseline="0" dirty="0" smtClean="0">
              <a:ln>
                <a:noFill/>
              </a:ln>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 trouble du comportement alimentaire atypique.</a:t>
            </a: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Pas de diagnostic. Il s’agit d’un problème passager qui se résoudra spontanément.</a:t>
            </a:r>
            <a:endParaRPr lang="fr-CH" dirty="0" smtClean="0"/>
          </a:p>
          <a:p>
            <a:pPr marL="0" marR="0" lvl="0" indent="0" algn="l" defTabSz="914400" rtl="0" eaLnBrk="0" fontAlgn="base" latinLnBrk="0" hangingPunct="0">
              <a:lnSpc>
                <a:spcPct val="100000"/>
              </a:lnSpc>
              <a:spcBef>
                <a:spcPct val="0"/>
              </a:spcBef>
              <a:spcAft>
                <a:spcPct val="0"/>
              </a:spcAft>
              <a:buClrTx/>
              <a:buSzTx/>
              <a:buFontTx/>
              <a:buNone/>
              <a:tabLst/>
            </a:pPr>
            <a:endParaRPr kumimoji="0" lang="fr-CH" b="0" i="0" u="none" strike="noStrike" cap="none" normalizeH="0" baseline="0" dirty="0" smtClean="0">
              <a:ln>
                <a:noFill/>
              </a:ln>
              <a:solidFill>
                <a:schemeClr val="tx1"/>
              </a:solidFill>
              <a:effectLst/>
            </a:endParaRPr>
          </a:p>
        </p:txBody>
      </p:sp>
      <p:sp>
        <p:nvSpPr>
          <p:cNvPr id="3" name="Rectangle 2"/>
          <p:cNvSpPr/>
          <p:nvPr/>
        </p:nvSpPr>
        <p:spPr>
          <a:xfrm>
            <a:off x="1331640" y="4221088"/>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348880"/>
            <a:ext cx="4734272" cy="1631216"/>
          </a:xfrm>
          <a:prstGeom prst="rect">
            <a:avLst/>
          </a:prstGeom>
        </p:spPr>
        <p:txBody>
          <a:bodyPr wrap="square">
            <a:spAutoFit/>
          </a:bodyPr>
          <a:lstStyle/>
          <a:p>
            <a:r>
              <a:rPr lang="fr-CH" sz="2000" dirty="0" smtClean="0"/>
              <a:t>Tous les éléments énoncés sont ceux participant au diagnostic de boulimie. Une anorexie mentale peut être exclue compte tenu de la normalité de l’indice de masse corporel.</a:t>
            </a:r>
            <a:endParaRPr lang="fr-CH"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971600" y="1695291"/>
            <a:ext cx="7200800"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Patient de 54 ans, sans antécédent psychiatrique, ayant bénéficié 72 heures plus tôt d’un pontage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aorto</a:t>
            </a:r>
            <a:r>
              <a:rPr kumimoji="0" lang="fr-CH" b="0" i="0" u="none" strike="noStrike" cap="none" normalizeH="0" baseline="0" dirty="0" smtClean="0">
                <a:ln>
                  <a:noFill/>
                </a:ln>
                <a:solidFill>
                  <a:schemeClr val="tx1"/>
                </a:solidFill>
                <a:effectLst/>
                <a:ea typeface="Calibri" pitchFamily="34" charset="0"/>
                <a:cs typeface="Times New Roman" pitchFamily="18" charset="0"/>
              </a:rPr>
              <a:t>-coronarien. Dans les suites opératoires, le patient présente de façon fluctuante des troubles de la vigilance, une agitation, une désorientation temporelle et des hallucinations visuelles. Quel est le diagnostic le plus probable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effectLst/>
                <a:ea typeface="Calibri" pitchFamily="34" charset="0"/>
                <a:cs typeface="Times New Roman" pitchFamily="18" charset="0"/>
              </a:rPr>
              <a:t>Un état confusionnel aigu.</a:t>
            </a:r>
            <a:endParaRPr kumimoji="0" lang="fr-CH" b="0" i="0" u="none" strike="noStrike" cap="none" normalizeH="0" baseline="0" dirty="0" smtClean="0">
              <a:ln>
                <a:noFill/>
              </a:ln>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Une schizophrénie paranoïde.</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 trouble panique.</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 trouble de la personnalité de type anxieux.</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Une démence débutante.</a:t>
            </a:r>
          </a:p>
          <a:p>
            <a:pPr marL="457200" marR="0" lvl="1" indent="0" algn="l" defTabSz="914400" rtl="0" eaLnBrk="0" fontAlgn="base" latinLnBrk="0" hangingPunct="0">
              <a:lnSpc>
                <a:spcPct val="100000"/>
              </a:lnSpc>
              <a:spcBef>
                <a:spcPct val="0"/>
              </a:spcBef>
              <a:spcAft>
                <a:spcPct val="0"/>
              </a:spcAft>
              <a:buClrTx/>
              <a:buSzTx/>
              <a:buFontTx/>
              <a:buAutoNum type="alphaUcPeriod"/>
              <a:tabLst/>
            </a:pPr>
            <a:endParaRPr lang="fr-CH" dirty="0" smtClean="0">
              <a:cs typeface="Times New Roman" pitchFamily="18" charset="0"/>
            </a:endParaRPr>
          </a:p>
        </p:txBody>
      </p:sp>
      <p:sp>
        <p:nvSpPr>
          <p:cNvPr id="3" name="Rectangle 2"/>
          <p:cNvSpPr/>
          <p:nvPr/>
        </p:nvSpPr>
        <p:spPr>
          <a:xfrm>
            <a:off x="1331640" y="3284984"/>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636912"/>
            <a:ext cx="4806280" cy="1200329"/>
          </a:xfrm>
          <a:prstGeom prst="rect">
            <a:avLst/>
          </a:prstGeom>
        </p:spPr>
        <p:txBody>
          <a:bodyPr wrap="square">
            <a:spAutoFit/>
          </a:bodyPr>
          <a:lstStyle/>
          <a:p>
            <a:r>
              <a:rPr lang="fr-CH" dirty="0" smtClean="0"/>
              <a:t>La nature des symptômes et le contexte </a:t>
            </a:r>
            <a:r>
              <a:rPr lang="fr-CH" dirty="0" err="1" smtClean="0"/>
              <a:t>post-opératoire</a:t>
            </a:r>
            <a:r>
              <a:rPr lang="fr-CH" dirty="0" smtClean="0"/>
              <a:t> sont typiques de l’ECA. L’absence d’antécédent psychiatrique rend très peu probables les autres diagnostics.</a:t>
            </a:r>
            <a:endParaRPr lang="fr-CH"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ChangeArrowheads="1"/>
          </p:cNvSpPr>
          <p:nvPr/>
        </p:nvSpPr>
        <p:spPr bwMode="auto">
          <a:xfrm>
            <a:off x="971600" y="1551275"/>
            <a:ext cx="7200800" cy="36933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Patient de 58 ans connu pour une dépendance chronique à l’alcool, hospitalisé en raison d’une bronchopneumonie fébrile. Après mise en route d’une antibiothérapie, l’évolution est tout d’abord favorable. Au 4</a:t>
            </a:r>
            <a:r>
              <a:rPr kumimoji="0" lang="fr-CH" b="0" i="0" u="none" strike="noStrike" cap="none" normalizeH="0" baseline="30000" dirty="0" smtClean="0">
                <a:ln>
                  <a:noFill/>
                </a:ln>
                <a:solidFill>
                  <a:schemeClr val="tx1"/>
                </a:solidFill>
                <a:effectLst/>
                <a:ea typeface="Calibri" pitchFamily="34" charset="0"/>
                <a:cs typeface="Times New Roman" pitchFamily="18" charset="0"/>
              </a:rPr>
              <a:t>ème</a:t>
            </a:r>
            <a:r>
              <a:rPr kumimoji="0" lang="fr-CH" b="0" i="0" u="none" strike="noStrike" cap="none" normalizeH="0" baseline="0" dirty="0" smtClean="0">
                <a:ln>
                  <a:noFill/>
                </a:ln>
                <a:solidFill>
                  <a:schemeClr val="tx1"/>
                </a:solidFill>
                <a:effectLst/>
                <a:ea typeface="Calibri" pitchFamily="34" charset="0"/>
                <a:cs typeface="Times New Roman" pitchFamily="18" charset="0"/>
              </a:rPr>
              <a:t> jour, le patient présente un état d’agitation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psycho-motrice</a:t>
            </a:r>
            <a:r>
              <a:rPr kumimoji="0" lang="fr-CH" b="0" i="0" u="none" strike="noStrike" cap="none" normalizeH="0" baseline="0" dirty="0" smtClean="0">
                <a:ln>
                  <a:noFill/>
                </a:ln>
                <a:solidFill>
                  <a:schemeClr val="tx1"/>
                </a:solidFill>
                <a:effectLst/>
                <a:ea typeface="Calibri" pitchFamily="34" charset="0"/>
                <a:cs typeface="Times New Roman" pitchFamily="18" charset="0"/>
              </a:rPr>
              <a:t>, un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tremor</a:t>
            </a:r>
            <a:r>
              <a:rPr kumimoji="0" lang="fr-CH" b="0" i="0" u="none" strike="noStrike" cap="none" normalizeH="0" baseline="0" dirty="0" smtClean="0">
                <a:ln>
                  <a:noFill/>
                </a:ln>
                <a:solidFill>
                  <a:schemeClr val="tx1"/>
                </a:solidFill>
                <a:effectLst/>
                <a:ea typeface="Calibri" pitchFamily="34" charset="0"/>
                <a:cs typeface="Times New Roman" pitchFamily="18" charset="0"/>
              </a:rPr>
              <a:t>, des sudations profuses, une HTA et des hallucinations visuelles. Quel est le diagnostic le plus probable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Une schizophrénie paranoïde.</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effectLst/>
                <a:ea typeface="Calibri" pitchFamily="34" charset="0"/>
                <a:cs typeface="Times New Roman" pitchFamily="18" charset="0"/>
              </a:rPr>
              <a:t>Un delirium tremens.</a:t>
            </a:r>
            <a:endParaRPr kumimoji="0" lang="fr-CH" b="0" i="0" u="none" strike="noStrike" cap="none" normalizeH="0" baseline="0" dirty="0" smtClean="0">
              <a:ln>
                <a:noFill/>
              </a:ln>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 état confusionnel aigu (ECA).</a:t>
            </a:r>
            <a:endParaRPr kumimoji="0" lang="fr-CH" b="0" i="0" u="none" strike="noStrike" cap="none" normalizeH="0" baseline="0" dirty="0" smtClean="0">
              <a:ln>
                <a:noFill/>
              </a:ln>
              <a:solidFill>
                <a:schemeClr val="tx1"/>
              </a:solidFill>
              <a:effectLst/>
            </a:endParaRPr>
          </a:p>
          <a:p>
            <a:pPr marL="800100" marR="0" lvl="1" indent="-342900" algn="l" defTabSz="914400" rtl="0" eaLnBrk="0" fontAlgn="base" latinLnBrk="0" hangingPunct="0">
              <a:lnSpc>
                <a:spcPct val="100000"/>
              </a:lnSpc>
              <a:spcBef>
                <a:spcPct val="0"/>
              </a:spcBef>
              <a:spcAft>
                <a:spcPct val="0"/>
              </a:spcAft>
              <a:buClrTx/>
              <a:buSzTx/>
              <a:buFont typeface="+mj-lt"/>
              <a:buAutoNum type="alphaUcPeriod"/>
              <a:tabLst/>
            </a:pPr>
            <a:r>
              <a:rPr kumimoji="0" lang="fr-CH" b="0" i="0" u="none" strike="noStrike" cap="none" normalizeH="0" baseline="0" dirty="0" smtClean="0">
                <a:ln>
                  <a:noFill/>
                </a:ln>
                <a:solidFill>
                  <a:schemeClr val="tx1"/>
                </a:solidFill>
                <a:effectLst/>
                <a:ea typeface="Calibri" pitchFamily="34" charset="0"/>
                <a:cs typeface="Times New Roman" pitchFamily="18" charset="0"/>
              </a:rPr>
              <a:t>Un trouble panique</a:t>
            </a: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Un trouble de de la personnalité de type anxieux.</a:t>
            </a:r>
            <a:endParaRPr lang="fr-CH" dirty="0" smtClean="0"/>
          </a:p>
          <a:p>
            <a:pPr marL="0" marR="0" lvl="0" indent="0" algn="l" defTabSz="914400" rtl="0" eaLnBrk="0" fontAlgn="base" latinLnBrk="0" hangingPunct="0">
              <a:lnSpc>
                <a:spcPct val="100000"/>
              </a:lnSpc>
              <a:spcBef>
                <a:spcPct val="0"/>
              </a:spcBef>
              <a:spcAft>
                <a:spcPct val="0"/>
              </a:spcAft>
              <a:buClrTx/>
              <a:buSzTx/>
              <a:buFontTx/>
              <a:buNone/>
              <a:tabLst/>
            </a:pPr>
            <a:endParaRPr kumimoji="0" lang="fr-CH" b="0" i="0" u="none" strike="noStrike" cap="none" normalizeH="0" baseline="0" dirty="0" smtClean="0">
              <a:ln>
                <a:noFill/>
              </a:ln>
              <a:solidFill>
                <a:schemeClr val="tx1"/>
              </a:solidFill>
              <a:effectLst/>
            </a:endParaRPr>
          </a:p>
        </p:txBody>
      </p:sp>
      <p:sp>
        <p:nvSpPr>
          <p:cNvPr id="3" name="Rectangle 2"/>
          <p:cNvSpPr/>
          <p:nvPr/>
        </p:nvSpPr>
        <p:spPr>
          <a:xfrm>
            <a:off x="1331640" y="3789040"/>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828836"/>
            <a:ext cx="4734272" cy="1200329"/>
          </a:xfrm>
          <a:prstGeom prst="rect">
            <a:avLst/>
          </a:prstGeom>
        </p:spPr>
        <p:txBody>
          <a:bodyPr wrap="square">
            <a:spAutoFit/>
          </a:bodyPr>
          <a:lstStyle/>
          <a:p>
            <a:r>
              <a:rPr lang="fr-CH" dirty="0" smtClean="0"/>
              <a:t>Le diagnostic différentiel se pose avec un ECA. La notion de syndrome de dépendance à l’alcool principalement doit faire évoquer en 1</a:t>
            </a:r>
            <a:r>
              <a:rPr lang="fr-CH" baseline="30000" dirty="0" smtClean="0"/>
              <a:t>er</a:t>
            </a:r>
            <a:r>
              <a:rPr lang="fr-CH" dirty="0" smtClean="0"/>
              <a:t> lieu un delirium tremens.</a:t>
            </a:r>
            <a:endParaRPr lang="fr-CH"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ChangeArrowheads="1"/>
          </p:cNvSpPr>
          <p:nvPr/>
        </p:nvSpPr>
        <p:spPr bwMode="auto">
          <a:xfrm>
            <a:off x="971600" y="1335251"/>
            <a:ext cx="7200800" cy="42473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H" i="0" u="none" strike="noStrike" cap="none" normalizeH="0" baseline="0" dirty="0" smtClean="0">
                <a:ln>
                  <a:noFill/>
                </a:ln>
                <a:solidFill>
                  <a:schemeClr val="tx1"/>
                </a:solidFill>
                <a:effectLst/>
                <a:ea typeface="Calibri" pitchFamily="34" charset="0"/>
                <a:cs typeface="Times New Roman" pitchFamily="18" charset="0"/>
              </a:rPr>
              <a:t>Laquelle des informations suivantes concernant le transsexualisme est correcte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H"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Le transsexualisme est un phénomène récent et exclusif au monde occidental.</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Le transsexualisme se définit par le désir permanent d’être débarrassé de ses caractères sexuels, d’acquérir et de mener la vie d’un sujet de l’autre sexe.</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La chirurgie de réassignation sexuelle n’améliore que rarement la qualité de vie des patients transsexuels.</a:t>
            </a:r>
            <a:endParaRPr kumimoji="0" lang="fr-CH" b="0" i="0" u="none" strike="noStrike" cap="none" normalizeH="0" baseline="0" dirty="0" smtClean="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Le transsexualisme est un phénomène plus fréquemment rencontré chez les femmes que chez les hommes.</a:t>
            </a:r>
          </a:p>
          <a:p>
            <a:pPr marL="800100" lvl="1" indent="-342900"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On parle également de transsexualisme dans les cas ou les sujets présentent une anomalie chromosomique.</a:t>
            </a:r>
            <a:r>
              <a:rPr kumimoji="0" lang="fr-CH"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fr-CH" dirty="0" smtClean="0"/>
          </a:p>
        </p:txBody>
      </p:sp>
      <p:sp>
        <p:nvSpPr>
          <p:cNvPr id="3" name="Rectangle 2"/>
          <p:cNvSpPr/>
          <p:nvPr/>
        </p:nvSpPr>
        <p:spPr>
          <a:xfrm>
            <a:off x="1331640" y="2708920"/>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1640" y="1556792"/>
            <a:ext cx="6858000" cy="3785652"/>
          </a:xfrm>
          <a:prstGeom prst="rect">
            <a:avLst/>
          </a:prstGeom>
        </p:spPr>
        <p:txBody>
          <a:bodyPr wrap="square">
            <a:spAutoFit/>
          </a:bodyPr>
          <a:lstStyle/>
          <a:p>
            <a:r>
              <a:rPr lang="fr-CH" sz="2000" dirty="0" smtClean="0"/>
              <a:t>Le transsexualisme se définit en effet par le désir permanent d’appartenir au sexe opposé.</a:t>
            </a:r>
          </a:p>
          <a:p>
            <a:endParaRPr lang="fr-CH" sz="2000" dirty="0" smtClean="0"/>
          </a:p>
          <a:p>
            <a:r>
              <a:rPr lang="fr-CH" sz="2000" dirty="0" smtClean="0"/>
              <a:t>Il s’agit d’un diagnostic psychiatrique et ce phénomène exclut tous les cas d’ambigüité sexuelle ou d’anomalie chromosomique, cas dans lesquels on parle d’hermaphrodisme.</a:t>
            </a:r>
          </a:p>
          <a:p>
            <a:endParaRPr lang="fr-CH" sz="2000" dirty="0" smtClean="0"/>
          </a:p>
          <a:p>
            <a:r>
              <a:rPr lang="fr-CH" sz="2000" dirty="0" smtClean="0"/>
              <a:t>Le transsexualisme a existé de tout temps mais est plus fréquent chez les hommes.</a:t>
            </a:r>
          </a:p>
          <a:p>
            <a:endParaRPr lang="fr-CH" sz="2000" dirty="0" smtClean="0"/>
          </a:p>
          <a:p>
            <a:r>
              <a:rPr lang="fr-CH" sz="2000" dirty="0" smtClean="0"/>
              <a:t>La chirurgie améliore sensiblement la qualité de vie des patients.</a:t>
            </a:r>
            <a:endParaRPr lang="fr-CH"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ChangeArrowheads="1"/>
          </p:cNvSpPr>
          <p:nvPr/>
        </p:nvSpPr>
        <p:spPr bwMode="auto">
          <a:xfrm>
            <a:off x="899592" y="1551275"/>
            <a:ext cx="7200800" cy="36933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CH" i="0" u="none" strike="noStrike" cap="none" normalizeH="0" baseline="0" dirty="0" smtClean="0">
                <a:ln>
                  <a:noFill/>
                </a:ln>
                <a:solidFill>
                  <a:schemeClr val="tx1"/>
                </a:solidFill>
                <a:effectLst/>
                <a:ea typeface="Calibri" pitchFamily="34" charset="0"/>
                <a:cs typeface="Times New Roman" pitchFamily="18" charset="0"/>
              </a:rPr>
              <a:t>Concernant les </a:t>
            </a:r>
            <a:r>
              <a:rPr kumimoji="0" lang="fr-CH" i="0" u="none" strike="noStrike" cap="none" normalizeH="0" baseline="0" dirty="0" err="1" smtClean="0">
                <a:ln>
                  <a:noFill/>
                </a:ln>
                <a:solidFill>
                  <a:schemeClr val="tx1"/>
                </a:solidFill>
                <a:effectLst/>
                <a:ea typeface="Calibri" pitchFamily="34" charset="0"/>
                <a:cs typeface="Times New Roman" pitchFamily="18" charset="0"/>
              </a:rPr>
              <a:t>paraphilies</a:t>
            </a:r>
            <a:r>
              <a:rPr kumimoji="0" lang="fr-CH" i="0" u="none" strike="noStrike" cap="none" normalizeH="0" baseline="0" dirty="0" smtClean="0">
                <a:ln>
                  <a:noFill/>
                </a:ln>
                <a:solidFill>
                  <a:schemeClr val="tx1"/>
                </a:solidFill>
                <a:effectLst/>
                <a:ea typeface="Calibri" pitchFamily="34" charset="0"/>
                <a:cs typeface="Times New Roman" pitchFamily="18" charset="0"/>
              </a:rPr>
              <a:t>, laquelle de ces affirmations </a:t>
            </a:r>
            <a:r>
              <a:rPr kumimoji="0" lang="fr-CH" b="1" i="0" u="none" strike="noStrike" cap="none" normalizeH="0" baseline="0" dirty="0" smtClean="0">
                <a:ln>
                  <a:noFill/>
                </a:ln>
                <a:solidFill>
                  <a:schemeClr val="tx1"/>
                </a:solidFill>
                <a:effectLst/>
                <a:ea typeface="Calibri" pitchFamily="34" charset="0"/>
                <a:cs typeface="Times New Roman" pitchFamily="18" charset="0"/>
              </a:rPr>
              <a:t>n’est pas correcte</a:t>
            </a:r>
            <a:r>
              <a:rPr kumimoji="0" lang="fr-CH" i="0" u="none" strike="noStrike" cap="none" normalizeH="0" baseline="0" dirty="0" smtClean="0">
                <a:ln>
                  <a:noFill/>
                </a:ln>
                <a:solidFill>
                  <a:schemeClr val="tx1"/>
                </a:solidFill>
                <a:effectLst/>
                <a:ea typeface="Calibri" pitchFamily="34" charset="0"/>
                <a:cs typeface="Times New Roman" pitchFamily="18" charset="0"/>
              </a:rPr>
              <a:t>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fr-CH" i="0" u="none" strike="noStrike" cap="none" normalizeH="0" baseline="0" dirty="0" smtClean="0">
              <a:ln>
                <a:noFill/>
              </a:ln>
              <a:solidFill>
                <a:schemeClr val="tx1"/>
              </a:solidFill>
              <a:effectLst/>
            </a:endParaRPr>
          </a:p>
          <a:p>
            <a:pPr marL="800100" lvl="1" indent="-342900" algn="just"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Les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paraphilies</a:t>
            </a:r>
            <a:r>
              <a:rPr kumimoji="0" lang="fr-CH" b="0" i="0" u="none" strike="noStrike" cap="none" normalizeH="0" baseline="0" dirty="0" smtClean="0">
                <a:ln>
                  <a:noFill/>
                </a:ln>
                <a:solidFill>
                  <a:schemeClr val="tx1"/>
                </a:solidFill>
                <a:effectLst/>
                <a:ea typeface="Calibri" pitchFamily="34" charset="0"/>
                <a:cs typeface="Times New Roman" pitchFamily="18" charset="0"/>
              </a:rPr>
              <a:t> sont des troubles sexuels caractérisés par la présence de pulsions ou pratiques qui sont déviantes et inhabituelles.</a:t>
            </a:r>
            <a:endParaRPr kumimoji="0" lang="fr-CH" b="0" i="0" u="none" strike="noStrike" cap="none" normalizeH="0" baseline="0" dirty="0" smtClean="0">
              <a:ln>
                <a:noFill/>
              </a:ln>
              <a:solidFill>
                <a:schemeClr val="tx1"/>
              </a:solidFill>
              <a:effectLst/>
            </a:endParaRPr>
          </a:p>
          <a:p>
            <a:pPr marL="800100" lvl="1" indent="-342900" algn="just"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Le fétichisme, l’exhibitionnisme et le voyeurisme sont typiquement des exemples de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paraphilies</a:t>
            </a:r>
            <a:r>
              <a:rPr kumimoji="0" lang="fr-CH" b="0" i="0" u="none" strike="noStrike" cap="none" normalizeH="0" baseline="0" dirty="0" smtClean="0">
                <a:ln>
                  <a:noFill/>
                </a:ln>
                <a:solidFill>
                  <a:schemeClr val="tx1"/>
                </a:solidFill>
                <a:effectLst/>
                <a:ea typeface="Calibri" pitchFamily="34" charset="0"/>
                <a:cs typeface="Times New Roman" pitchFamily="18" charset="0"/>
              </a:rPr>
              <a:t>.</a:t>
            </a:r>
            <a:endParaRPr kumimoji="0" lang="fr-CH" b="0" i="0" u="none" strike="noStrike" cap="none" normalizeH="0" baseline="0" dirty="0" smtClean="0">
              <a:ln>
                <a:noFill/>
              </a:ln>
              <a:solidFill>
                <a:schemeClr val="tx1"/>
              </a:solidFill>
              <a:effectLst/>
            </a:endParaRPr>
          </a:p>
          <a:p>
            <a:pPr marL="800100" lvl="1" indent="-342900" algn="just"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L’acte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paraphilique</a:t>
            </a:r>
            <a:r>
              <a:rPr kumimoji="0" lang="fr-CH" b="0" i="0" u="none" strike="noStrike" cap="none" normalizeH="0" baseline="0" dirty="0" smtClean="0">
                <a:ln>
                  <a:noFill/>
                </a:ln>
                <a:solidFill>
                  <a:schemeClr val="tx1"/>
                </a:solidFill>
                <a:effectLst/>
                <a:ea typeface="Calibri" pitchFamily="34" charset="0"/>
                <a:cs typeface="Times New Roman" pitchFamily="18" charset="0"/>
              </a:rPr>
              <a:t> a rarement un caractère compulsif.</a:t>
            </a:r>
            <a:endParaRPr kumimoji="0" lang="fr-CH" b="0" i="0" u="none" strike="noStrike" cap="none" normalizeH="0" baseline="0" dirty="0" smtClean="0">
              <a:ln>
                <a:noFill/>
              </a:ln>
              <a:solidFill>
                <a:schemeClr val="tx1"/>
              </a:solidFill>
              <a:effectLst/>
            </a:endParaRPr>
          </a:p>
          <a:p>
            <a:pPr marL="800100" lvl="1" indent="-342900" algn="just"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Les comportements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paraphiliques</a:t>
            </a:r>
            <a:r>
              <a:rPr kumimoji="0" lang="fr-CH" b="0" i="0" u="none" strike="noStrike" cap="none" normalizeH="0" baseline="0" dirty="0" smtClean="0">
                <a:ln>
                  <a:noFill/>
                </a:ln>
                <a:solidFill>
                  <a:schemeClr val="tx1"/>
                </a:solidFill>
                <a:effectLst/>
                <a:ea typeface="Calibri" pitchFamily="34" charset="0"/>
                <a:cs typeface="Times New Roman" pitchFamily="18" charset="0"/>
              </a:rPr>
              <a:t> s’exacerbent souvent en cas de stress, d’anxiété ou de dépression.</a:t>
            </a:r>
            <a:endParaRPr kumimoji="0" lang="fr-CH" b="0" i="0" u="none" strike="noStrike" cap="none" normalizeH="0" baseline="0" dirty="0" smtClean="0">
              <a:ln>
                <a:noFill/>
              </a:ln>
              <a:solidFill>
                <a:schemeClr val="tx1"/>
              </a:solidFill>
              <a:effectLst/>
            </a:endParaRPr>
          </a:p>
          <a:p>
            <a:pPr marL="800100" lvl="1" indent="-342900" algn="just" eaLnBrk="0" fontAlgn="base" hangingPunct="0">
              <a:spcBef>
                <a:spcPct val="0"/>
              </a:spcBef>
              <a:spcAft>
                <a:spcPct val="0"/>
              </a:spcAft>
              <a:buFont typeface="+mj-lt"/>
              <a:buAutoNum type="alphaUcPeriod"/>
            </a:pPr>
            <a:r>
              <a:rPr kumimoji="0" lang="fr-CH" b="0" i="0" u="none" strike="noStrike" cap="none" normalizeH="0" baseline="0" dirty="0" smtClean="0">
                <a:ln>
                  <a:noFill/>
                </a:ln>
                <a:solidFill>
                  <a:schemeClr val="tx1"/>
                </a:solidFill>
                <a:effectLst/>
                <a:ea typeface="Calibri" pitchFamily="34" charset="0"/>
                <a:cs typeface="Times New Roman" pitchFamily="18" charset="0"/>
              </a:rPr>
              <a:t>Les </a:t>
            </a:r>
            <a:r>
              <a:rPr kumimoji="0" lang="fr-CH" b="0" i="0" u="none" strike="noStrike" cap="none" normalizeH="0" baseline="0" dirty="0" err="1" smtClean="0">
                <a:ln>
                  <a:noFill/>
                </a:ln>
                <a:solidFill>
                  <a:schemeClr val="tx1"/>
                </a:solidFill>
                <a:effectLst/>
                <a:ea typeface="Calibri" pitchFamily="34" charset="0"/>
                <a:cs typeface="Times New Roman" pitchFamily="18" charset="0"/>
              </a:rPr>
              <a:t>paraphilies</a:t>
            </a:r>
            <a:r>
              <a:rPr kumimoji="0" lang="fr-CH" b="0" i="0" u="none" strike="noStrike" cap="none" normalizeH="0" baseline="0" dirty="0" smtClean="0">
                <a:ln>
                  <a:noFill/>
                </a:ln>
                <a:solidFill>
                  <a:schemeClr val="tx1"/>
                </a:solidFill>
                <a:effectLst/>
                <a:ea typeface="Calibri" pitchFamily="34" charset="0"/>
                <a:cs typeface="Times New Roman" pitchFamily="18" charset="0"/>
              </a:rPr>
              <a:t> sont plus fréquentes chez les hommes que chez les femmes.</a:t>
            </a:r>
          </a:p>
          <a:p>
            <a:pPr marL="0" marR="0" lvl="0" indent="0" algn="just" defTabSz="914400" rtl="0" eaLnBrk="0" fontAlgn="base" latinLnBrk="0" hangingPunct="0">
              <a:lnSpc>
                <a:spcPct val="100000"/>
              </a:lnSpc>
              <a:spcBef>
                <a:spcPct val="0"/>
              </a:spcBef>
              <a:spcAft>
                <a:spcPct val="0"/>
              </a:spcAft>
              <a:buClrTx/>
              <a:buSzTx/>
              <a:tabLst/>
            </a:pPr>
            <a:endParaRPr lang="fr-CH" dirty="0" smtClean="0">
              <a:cs typeface="Times New Roman" pitchFamily="18" charset="0"/>
            </a:endParaRPr>
          </a:p>
        </p:txBody>
      </p:sp>
      <p:sp>
        <p:nvSpPr>
          <p:cNvPr id="3" name="Rectangle 2"/>
          <p:cNvSpPr/>
          <p:nvPr/>
        </p:nvSpPr>
        <p:spPr>
          <a:xfrm>
            <a:off x="1259632" y="3501008"/>
            <a:ext cx="504056" cy="360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204864"/>
            <a:ext cx="4950296" cy="2246769"/>
          </a:xfrm>
          <a:prstGeom prst="rect">
            <a:avLst/>
          </a:prstGeom>
        </p:spPr>
        <p:txBody>
          <a:bodyPr wrap="square">
            <a:spAutoFit/>
          </a:bodyPr>
          <a:lstStyle/>
          <a:p>
            <a:r>
              <a:rPr lang="fr-CH" sz="2000" dirty="0" smtClean="0"/>
              <a:t>L’acte </a:t>
            </a:r>
            <a:r>
              <a:rPr lang="fr-CH" sz="2000" dirty="0" err="1" smtClean="0"/>
              <a:t>paraphilique</a:t>
            </a:r>
            <a:r>
              <a:rPr lang="fr-CH" sz="2000" dirty="0" smtClean="0"/>
              <a:t> a justement un caractère compulsif, à savoir que c’est un acte que le sujet accomplit malgré lui, même s’il le désapprouve, et que la non-exécution de cet acte génère de fortes angoisses ( autres exemples d’actes compulsifs : achats, crises de boulimie).</a:t>
            </a:r>
            <a:endParaRPr lang="fr-CH" sz="2000" dirty="0"/>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TotalTime>
  <Words>1696</Words>
  <Application>Microsoft Office PowerPoint</Application>
  <PresentationFormat>Affichage à l'écran (4:3)</PresentationFormat>
  <Paragraphs>168</Paragraphs>
  <Slides>31</Slides>
  <Notes>0</Notes>
  <HiddenSlides>0</HiddenSlides>
  <MMClips>0</MMClips>
  <ScaleCrop>false</ScaleCrop>
  <HeadingPairs>
    <vt:vector size="4" baseType="variant">
      <vt:variant>
        <vt:lpstr>Thème</vt:lpstr>
      </vt:variant>
      <vt:variant>
        <vt:i4>1</vt:i4>
      </vt:variant>
      <vt:variant>
        <vt:lpstr>Titres des diapositives</vt:lpstr>
      </vt:variant>
      <vt:variant>
        <vt:i4>31</vt:i4>
      </vt:variant>
    </vt:vector>
  </HeadingPairs>
  <TitlesOfParts>
    <vt:vector size="32" baseType="lpstr">
      <vt:lpstr>Thème Office</vt:lpstr>
      <vt:lpstr>Répétitoire finalistes 2014 : liaison</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vector>
  </TitlesOfParts>
  <Company>CHUV | Centre hospitalier universitaire vaudois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Répétitoire finalistes 2011</dc:title>
  <dc:creator>bovetp</dc:creator>
  <cp:lastModifiedBy>msaraga</cp:lastModifiedBy>
  <cp:revision>36</cp:revision>
  <dcterms:created xsi:type="dcterms:W3CDTF">2011-05-27T07:43:38Z</dcterms:created>
  <dcterms:modified xsi:type="dcterms:W3CDTF">2014-06-11T09:01:38Z</dcterms:modified>
</cp:coreProperties>
</file>